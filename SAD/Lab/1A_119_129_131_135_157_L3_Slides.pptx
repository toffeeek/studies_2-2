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Arimo"/>
      <p:regular r:id="rId25"/>
      <p:bold r:id="rId26"/>
      <p:italic r:id="rId27"/>
      <p:boldItalic r:id="rId28"/>
    </p:embeddedFont>
    <p:embeddedFont>
      <p:font typeface="Poppins"/>
      <p:regular r:id="rId29"/>
      <p:bold r:id="rId30"/>
      <p:italic r:id="rId31"/>
      <p:boldItalic r:id="rId32"/>
    </p:embeddedFont>
    <p:embeddedFont>
      <p:font typeface="Poppins Light"/>
      <p:regular r:id="rId33"/>
      <p:bold r:id="rId34"/>
      <p:italic r:id="rId35"/>
      <p:boldItalic r:id="rId36"/>
    </p:embeddedFont>
    <p:embeddedFont>
      <p:font typeface="Poppins Black"/>
      <p:bold r:id="rId37"/>
      <p:boldItalic r:id="rId38"/>
    </p:embeddedFont>
    <p:embeddedFont>
      <p:font typeface="Poppins SemiBold"/>
      <p:regular r:id="rId39"/>
      <p:bold r:id="rId40"/>
      <p:italic r:id="rId41"/>
      <p:boldItalic r:id="rId42"/>
    </p:embeddedFont>
    <p:embeddedFont>
      <p:font typeface="Poppins ExtraLight"/>
      <p:regular r:id="rId43"/>
      <p:bold r:id="rId44"/>
      <p:italic r:id="rId45"/>
      <p:boldItalic r:id="rId46"/>
    </p:embeddedFont>
    <p:embeddedFont>
      <p:font typeface="JetBrains Mon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90DE7C4-90D2-4691-9439-452F06F8882D}">
  <a:tblStyle styleId="{D90DE7C4-90D2-4691-9439-452F06F888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bold.fntdata"/><Relationship Id="rId42" Type="http://schemas.openxmlformats.org/officeDocument/2006/relationships/font" Target="fonts/PoppinsSemiBold-boldItalic.fntdata"/><Relationship Id="rId41" Type="http://schemas.openxmlformats.org/officeDocument/2006/relationships/font" Target="fonts/PoppinsSemiBold-italic.fntdata"/><Relationship Id="rId44" Type="http://schemas.openxmlformats.org/officeDocument/2006/relationships/font" Target="fonts/PoppinsExtraLight-bold.fntdata"/><Relationship Id="rId43" Type="http://schemas.openxmlformats.org/officeDocument/2006/relationships/font" Target="fonts/PoppinsExtraLight-regular.fntdata"/><Relationship Id="rId46" Type="http://schemas.openxmlformats.org/officeDocument/2006/relationships/font" Target="fonts/PoppinsExtraLight-boldItalic.fntdata"/><Relationship Id="rId45" Type="http://schemas.openxmlformats.org/officeDocument/2006/relationships/font" Target="fonts/PoppinsExtraLigh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JetBrainsMono-bold.fntdata"/><Relationship Id="rId47" Type="http://schemas.openxmlformats.org/officeDocument/2006/relationships/font" Target="fonts/JetBrainsMono-regular.fntdata"/><Relationship Id="rId49" Type="http://schemas.openxmlformats.org/officeDocument/2006/relationships/font" Target="fonts/JetBrainsMon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33" Type="http://schemas.openxmlformats.org/officeDocument/2006/relationships/font" Target="fonts/PoppinsLight-regular.fntdata"/><Relationship Id="rId32" Type="http://schemas.openxmlformats.org/officeDocument/2006/relationships/font" Target="fonts/Poppins-boldItalic.fntdata"/><Relationship Id="rId35" Type="http://schemas.openxmlformats.org/officeDocument/2006/relationships/font" Target="fonts/PoppinsLight-italic.fntdata"/><Relationship Id="rId34" Type="http://schemas.openxmlformats.org/officeDocument/2006/relationships/font" Target="fonts/PoppinsLight-bold.fntdata"/><Relationship Id="rId37" Type="http://schemas.openxmlformats.org/officeDocument/2006/relationships/font" Target="fonts/PoppinsBlack-bold.fntdata"/><Relationship Id="rId36" Type="http://schemas.openxmlformats.org/officeDocument/2006/relationships/font" Target="fonts/PoppinsLight-boldItalic.fntdata"/><Relationship Id="rId39" Type="http://schemas.openxmlformats.org/officeDocument/2006/relationships/font" Target="fonts/PoppinsSemiBold-regular.fntdata"/><Relationship Id="rId38" Type="http://schemas.openxmlformats.org/officeDocument/2006/relationships/font" Target="fonts/PoppinsBlack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font" Target="fonts/Arimo-bold.fntdata"/><Relationship Id="rId25" Type="http://schemas.openxmlformats.org/officeDocument/2006/relationships/font" Target="fonts/Arimo-regular.fntdata"/><Relationship Id="rId28" Type="http://schemas.openxmlformats.org/officeDocument/2006/relationships/font" Target="fonts/Arimo-boldItalic.fntdata"/><Relationship Id="rId27" Type="http://schemas.openxmlformats.org/officeDocument/2006/relationships/font" Target="fonts/Arimo-italic.fntdata"/><Relationship Id="rId29" Type="http://schemas.openxmlformats.org/officeDocument/2006/relationships/font" Target="fonts/Poppins-regular.fntdata"/><Relationship Id="rId50" Type="http://schemas.openxmlformats.org/officeDocument/2006/relationships/font" Target="fonts/JetBrainsMono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e128e516e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e128e516e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a66e0d6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a66e0d6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0a66e0d6b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0a66e0d6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0aae23638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0aae23638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119849d0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119849d0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119849d0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119849d0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e119849d0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e119849d0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119849d0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119849d0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e119849d0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e119849d0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119849d0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e119849d0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119849d0a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119849d0a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119849d0a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119849d0a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e119849d0a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e119849d0a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119849d0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119849d0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119849d0a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119849d0a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119849d0a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e119849d0a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e128e516e4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e128e516e4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D9EAD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1562850"/>
            <a:ext cx="9144000" cy="17094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426825" y="1862475"/>
            <a:ext cx="77820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Team : Go Paloks</a:t>
            </a:r>
            <a:br>
              <a:rPr lang="en" sz="175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endParaRPr sz="200">
              <a:solidFill>
                <a:schemeClr val="dk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26825" y="2234100"/>
            <a:ext cx="6872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30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Livestock Management System</a:t>
            </a:r>
            <a:endParaRPr i="1" sz="30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426825" y="3272250"/>
            <a:ext cx="5137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50">
                <a:solidFill>
                  <a:srgbClr val="5EAFA6"/>
                </a:solidFill>
                <a:latin typeface="Poppins"/>
                <a:ea typeface="Poppins"/>
                <a:cs typeface="Poppins"/>
                <a:sym typeface="Poppins"/>
              </a:rPr>
              <a:t>CSE 4408: System Analysis and Design Lab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26825" y="4191825"/>
            <a:ext cx="17844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50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Presentation 3</a:t>
            </a:r>
            <a:endParaRPr i="1" sz="1350">
              <a:solidFill>
                <a:schemeClr val="dk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0" lvl="0" marL="12700" rtl="0" algn="l">
              <a:spcBef>
                <a:spcPts val="470"/>
              </a:spcBef>
              <a:spcAft>
                <a:spcPts val="0"/>
              </a:spcAft>
              <a:buNone/>
            </a:pPr>
            <a:r>
              <a:rPr i="1" lang="en" sz="1350">
                <a:solidFill>
                  <a:schemeClr val="dk1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May 13, 2026</a:t>
            </a:r>
            <a:endParaRPr i="1" sz="1350">
              <a:solidFill>
                <a:schemeClr val="dk1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00">
              <a:solidFill>
                <a:schemeClr val="dk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0728" y="243199"/>
            <a:ext cx="582550" cy="9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02/18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Team Members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507175" y="1566225"/>
            <a:ext cx="7686600" cy="26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Lucida Sans"/>
              <a:buChar char="●"/>
            </a:pPr>
            <a: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Sadnan 	- 	230041119</a:t>
            </a:r>
            <a:b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 b="1" sz="175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Lucida Sans"/>
              <a:buChar char="●"/>
            </a:pPr>
            <a: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Tawfiq 		- 	230041129</a:t>
            </a:r>
            <a:b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 b="1" sz="175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Lucida Sans"/>
              <a:buChar char="●"/>
            </a:pPr>
            <a: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Irtisham 	- 	230041131</a:t>
            </a:r>
            <a:b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 b="1" sz="175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Lucida Sans"/>
              <a:buChar char="●"/>
            </a:pPr>
            <a: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Abtahi 		- 	230041135</a:t>
            </a:r>
            <a:b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</a:br>
            <a:endParaRPr b="1" sz="175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3972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Lucida Sans"/>
              <a:buChar char="●"/>
            </a:pPr>
            <a:r>
              <a:rPr b="1" lang="en" sz="175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rPr>
              <a:t>Arkam 		- 	230041157</a:t>
            </a:r>
            <a:endParaRPr b="1" sz="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03/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0" y="0"/>
            <a:ext cx="6599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Organizational Overview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625075" y="1237275"/>
            <a:ext cx="6309000" cy="25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Integrated Smart Farm System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Covers: Poultry, Fisheries, Cattle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Goal: Efficiency + Sustainability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Interconnected subsystems (resource sharing)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04/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0" y="0"/>
            <a:ext cx="3247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Key Issues 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90450" y="1365700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2028250" y="1365700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3766050" y="1365700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5503850" y="1365700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 rotWithShape="1">
          <a:blip r:embed="rId3">
            <a:alphaModFix amt="10000"/>
          </a:blip>
          <a:srcRect b="19825" l="1070" r="80231" t="14705"/>
          <a:stretch/>
        </p:blipFill>
        <p:spPr>
          <a:xfrm>
            <a:off x="7241650" y="1365700"/>
            <a:ext cx="1623600" cy="3039900"/>
          </a:xfrm>
          <a:prstGeom prst="roundRect">
            <a:avLst>
              <a:gd fmla="val 9898" name="adj"/>
            </a:avLst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465161" y="1553425"/>
            <a:ext cx="514500" cy="514500"/>
          </a:xfrm>
          <a:prstGeom prst="ellipse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09995" y="1598284"/>
            <a:ext cx="424800" cy="424800"/>
          </a:xfrm>
          <a:prstGeom prst="ellipse">
            <a:avLst/>
          </a:prstGeom>
          <a:solidFill>
            <a:srgbClr val="F4F4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b="0" i="0" sz="1800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grpSp>
        <p:nvGrpSpPr>
          <p:cNvPr id="93" name="Google Shape;93;p16"/>
          <p:cNvGrpSpPr/>
          <p:nvPr/>
        </p:nvGrpSpPr>
        <p:grpSpPr>
          <a:xfrm>
            <a:off x="2205800" y="1541100"/>
            <a:ext cx="514500" cy="514500"/>
            <a:chOff x="2196150" y="1919375"/>
            <a:chExt cx="514500" cy="514500"/>
          </a:xfrm>
        </p:grpSpPr>
        <p:sp>
          <p:nvSpPr>
            <p:cNvPr id="94" name="Google Shape;94;p16"/>
            <p:cNvSpPr/>
            <p:nvPr/>
          </p:nvSpPr>
          <p:spPr>
            <a:xfrm>
              <a:off x="21961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5" name="Google Shape;95;p16"/>
            <p:cNvSpPr/>
            <p:nvPr/>
          </p:nvSpPr>
          <p:spPr>
            <a:xfrm>
              <a:off x="2241009" y="1964234"/>
              <a:ext cx="424800" cy="424800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2</a:t>
              </a:r>
              <a:endParaRPr b="0" i="0" sz="18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96" name="Google Shape;96;p16"/>
          <p:cNvGrpSpPr/>
          <p:nvPr/>
        </p:nvGrpSpPr>
        <p:grpSpPr>
          <a:xfrm>
            <a:off x="3946450" y="1541100"/>
            <a:ext cx="514500" cy="514500"/>
            <a:chOff x="3936800" y="1919375"/>
            <a:chExt cx="514500" cy="514500"/>
          </a:xfrm>
        </p:grpSpPr>
        <p:sp>
          <p:nvSpPr>
            <p:cNvPr id="97" name="Google Shape;97;p16"/>
            <p:cNvSpPr/>
            <p:nvPr/>
          </p:nvSpPr>
          <p:spPr>
            <a:xfrm>
              <a:off x="39368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98" name="Google Shape;98;p16"/>
            <p:cNvSpPr/>
            <p:nvPr/>
          </p:nvSpPr>
          <p:spPr>
            <a:xfrm>
              <a:off x="3981659" y="1964234"/>
              <a:ext cx="424800" cy="424800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3</a:t>
              </a:r>
              <a:endParaRPr b="0" i="0" sz="18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99" name="Google Shape;99;p16"/>
          <p:cNvGrpSpPr/>
          <p:nvPr/>
        </p:nvGrpSpPr>
        <p:grpSpPr>
          <a:xfrm>
            <a:off x="5687100" y="1541100"/>
            <a:ext cx="514500" cy="514500"/>
            <a:chOff x="5677450" y="1919375"/>
            <a:chExt cx="514500" cy="514500"/>
          </a:xfrm>
        </p:grpSpPr>
        <p:sp>
          <p:nvSpPr>
            <p:cNvPr id="100" name="Google Shape;100;p16"/>
            <p:cNvSpPr/>
            <p:nvPr/>
          </p:nvSpPr>
          <p:spPr>
            <a:xfrm>
              <a:off x="567745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01" name="Google Shape;101;p16"/>
            <p:cNvSpPr/>
            <p:nvPr/>
          </p:nvSpPr>
          <p:spPr>
            <a:xfrm>
              <a:off x="5722309" y="1964234"/>
              <a:ext cx="424800" cy="424800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4</a:t>
              </a:r>
              <a:endParaRPr b="0" i="0" sz="18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02" name="Google Shape;102;p16"/>
          <p:cNvGrpSpPr/>
          <p:nvPr/>
        </p:nvGrpSpPr>
        <p:grpSpPr>
          <a:xfrm>
            <a:off x="7427750" y="1541100"/>
            <a:ext cx="514500" cy="514500"/>
            <a:chOff x="7418100" y="1919375"/>
            <a:chExt cx="514500" cy="514500"/>
          </a:xfrm>
        </p:grpSpPr>
        <p:sp>
          <p:nvSpPr>
            <p:cNvPr id="103" name="Google Shape;103;p16"/>
            <p:cNvSpPr/>
            <p:nvPr/>
          </p:nvSpPr>
          <p:spPr>
            <a:xfrm>
              <a:off x="7418100" y="1919375"/>
              <a:ext cx="514500" cy="514500"/>
            </a:xfrm>
            <a:prstGeom prst="ellipse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7462959" y="1964234"/>
              <a:ext cx="424800" cy="424800"/>
            </a:xfrm>
            <a:prstGeom prst="ellipse">
              <a:avLst/>
            </a:prstGeom>
            <a:solidFill>
              <a:srgbClr val="F4F4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" sz="18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5</a:t>
              </a:r>
              <a:endParaRPr b="0" i="0" sz="18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sp>
        <p:nvSpPr>
          <p:cNvPr id="105" name="Google Shape;105;p16"/>
          <p:cNvSpPr txBox="1"/>
          <p:nvPr/>
        </p:nvSpPr>
        <p:spPr>
          <a:xfrm>
            <a:off x="306325" y="2118500"/>
            <a:ext cx="15828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Manual Record</a:t>
            </a:r>
            <a:r>
              <a:rPr b="1" i="1" lang="en" sz="900" u="sng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2028253" y="2256375"/>
            <a:ext cx="14805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Disconnected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Subsystem</a:t>
            </a:r>
            <a:endParaRPr b="1"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786451" y="2256375"/>
            <a:ext cx="15828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real-time monitoring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565199" y="2256375"/>
            <a:ext cx="14805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Delayed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Decision </a:t>
            </a:r>
            <a:endParaRPr sz="12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09" name="Google Shape;109;p16"/>
          <p:cNvSpPr txBox="1"/>
          <p:nvPr/>
        </p:nvSpPr>
        <p:spPr>
          <a:xfrm>
            <a:off x="7310680" y="2256363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Poor 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Tracking </a:t>
            </a:r>
            <a:endParaRPr b="1" i="1" sz="900" u="sng">
              <a:solidFill>
                <a:schemeClr val="dk1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sp>
        <p:nvSpPr>
          <p:cNvPr id="110" name="Google Shape;110;p16"/>
          <p:cNvSpPr txBox="1"/>
          <p:nvPr/>
        </p:nvSpPr>
        <p:spPr>
          <a:xfrm>
            <a:off x="172888" y="2759500"/>
            <a:ext cx="1623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●"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Data Loss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●"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Human Error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Poppins"/>
              <a:buChar char="●"/>
            </a:pPr>
            <a:r>
              <a:rPr lang="en" sz="1100">
                <a:latin typeface="Poppins"/>
                <a:ea typeface="Poppins"/>
                <a:cs typeface="Poppins"/>
                <a:sym typeface="Poppins"/>
              </a:rPr>
              <a:t>Inconsistency</a:t>
            </a:r>
            <a:endParaRPr sz="9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858245" y="2759500"/>
            <a:ext cx="19989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Duplicate work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Manual Handoff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Higher error rate</a:t>
            </a:r>
            <a:endParaRPr sz="9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3697338" y="2759500"/>
            <a:ext cx="1761000" cy="16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False/Missed 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Alert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Inconsistency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Failed Predictive</a:t>
            </a:r>
            <a:b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Analysis </a:t>
            </a:r>
            <a:endParaRPr sz="7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369250" y="2759500"/>
            <a:ext cx="16236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Irregular vaccination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Missed feed-tracking 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Neglection can cause huge loss </a:t>
            </a:r>
            <a:endParaRPr sz="10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7205048" y="2729950"/>
            <a:ext cx="1696800" cy="15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Inconsistent production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Overstocking or shortage of resources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Poppins"/>
              <a:buChar char="●"/>
            </a:pPr>
            <a:r>
              <a:rPr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Lack of accountability</a:t>
            </a:r>
            <a:endParaRPr sz="900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05/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Objectives vs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Requirements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23" name="Google Shape;123;p17"/>
          <p:cNvCxnSpPr>
            <a:stCxn id="124" idx="6"/>
          </p:cNvCxnSpPr>
          <p:nvPr/>
        </p:nvCxnSpPr>
        <p:spPr>
          <a:xfrm flipH="1" rot="10800000">
            <a:off x="697787" y="2786822"/>
            <a:ext cx="5527200" cy="3300"/>
          </a:xfrm>
          <a:prstGeom prst="straightConnector1">
            <a:avLst/>
          </a:prstGeom>
          <a:noFill/>
          <a:ln cap="flat" cmpd="sng" w="19050">
            <a:solidFill>
              <a:srgbClr val="009688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25" name="Google Shape;125;p17"/>
          <p:cNvSpPr txBox="1"/>
          <p:nvPr/>
        </p:nvSpPr>
        <p:spPr>
          <a:xfrm>
            <a:off x="839105" y="1483175"/>
            <a:ext cx="26622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  <a:t>Auto Data &amp; </a:t>
            </a:r>
            <a:b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  <a:t>Report </a:t>
            </a:r>
            <a:b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  <a:t>generation</a:t>
            </a:r>
            <a:r>
              <a:rPr lang="en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723225" y="1483163"/>
            <a:ext cx="26622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  <a:t>Real-time </a:t>
            </a:r>
            <a:b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  <a:t>tracking </a:t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27" name="Google Shape;127;p17"/>
          <p:cNvGrpSpPr/>
          <p:nvPr/>
        </p:nvGrpSpPr>
        <p:grpSpPr>
          <a:xfrm>
            <a:off x="4279200" y="1483171"/>
            <a:ext cx="196200" cy="1404900"/>
            <a:chOff x="4279200" y="1559371"/>
            <a:chExt cx="196200" cy="1404900"/>
          </a:xfrm>
        </p:grpSpPr>
        <p:cxnSp>
          <p:nvCxnSpPr>
            <p:cNvPr id="128" name="Google Shape;128;p17"/>
            <p:cNvCxnSpPr>
              <a:stCxn id="129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rgbClr val="009688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29" name="Google Shape;129;p17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rgbClr val="611B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0" name="Google Shape;130;p17"/>
          <p:cNvSpPr txBox="1"/>
          <p:nvPr/>
        </p:nvSpPr>
        <p:spPr>
          <a:xfrm>
            <a:off x="4467474" y="1483175"/>
            <a:ext cx="26622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  <a:t>Subsystem </a:t>
            </a:r>
            <a:b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  <a:t>Integration</a:t>
            </a:r>
            <a:r>
              <a:rPr lang="en" sz="1800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800"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31" name="Google Shape;131;p17"/>
          <p:cNvGrpSpPr/>
          <p:nvPr/>
        </p:nvGrpSpPr>
        <p:grpSpPr>
          <a:xfrm>
            <a:off x="6045475" y="2692171"/>
            <a:ext cx="196200" cy="1404905"/>
            <a:chOff x="6045475" y="2768371"/>
            <a:chExt cx="196200" cy="1404905"/>
          </a:xfrm>
        </p:grpSpPr>
        <p:cxnSp>
          <p:nvCxnSpPr>
            <p:cNvPr id="132" name="Google Shape;132;p17"/>
            <p:cNvCxnSpPr/>
            <p:nvPr/>
          </p:nvCxnSpPr>
          <p:spPr>
            <a:xfrm>
              <a:off x="614357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rgbClr val="009688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33" name="Google Shape;133;p17"/>
            <p:cNvSpPr/>
            <p:nvPr/>
          </p:nvSpPr>
          <p:spPr>
            <a:xfrm>
              <a:off x="6045475" y="2768371"/>
              <a:ext cx="196200" cy="195900"/>
            </a:xfrm>
            <a:prstGeom prst="ellipse">
              <a:avLst/>
            </a:prstGeom>
            <a:solidFill>
              <a:srgbClr val="611B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4" name="Google Shape;134;p17"/>
          <p:cNvSpPr txBox="1"/>
          <p:nvPr/>
        </p:nvSpPr>
        <p:spPr>
          <a:xfrm>
            <a:off x="6241674" y="1483175"/>
            <a:ext cx="21228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Sans Pro"/>
                <a:ea typeface="Source Sans Pro"/>
                <a:cs typeface="Source Sans Pro"/>
                <a:sym typeface="Source Sans Pro"/>
              </a:rPr>
              <a:t>Resource management and system usability</a:t>
            </a:r>
            <a:endParaRPr sz="1800">
              <a:solidFill>
                <a:srgbClr val="000000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7F7F7F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839100" y="3236425"/>
            <a:ext cx="1630500" cy="16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All subsystem 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supported 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</a:t>
            </a: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entralised 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database 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2709600" y="3236425"/>
            <a:ext cx="15258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Monitoring</a:t>
            </a: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&amp;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Alert system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f</a:t>
            </a: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or analytics</a:t>
            </a: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37" name="Google Shape;137;p17"/>
          <p:cNvGrpSpPr/>
          <p:nvPr/>
        </p:nvGrpSpPr>
        <p:grpSpPr>
          <a:xfrm>
            <a:off x="4279200" y="2692171"/>
            <a:ext cx="196200" cy="1404905"/>
            <a:chOff x="2512925" y="2768371"/>
            <a:chExt cx="196200" cy="1404905"/>
          </a:xfrm>
        </p:grpSpPr>
        <p:cxnSp>
          <p:nvCxnSpPr>
            <p:cNvPr id="138" name="Google Shape;138;p17"/>
            <p:cNvCxnSpPr/>
            <p:nvPr/>
          </p:nvCxnSpPr>
          <p:spPr>
            <a:xfrm>
              <a:off x="261102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rgbClr val="009688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39" name="Google Shape;139;p17"/>
            <p:cNvSpPr/>
            <p:nvPr/>
          </p:nvSpPr>
          <p:spPr>
            <a:xfrm>
              <a:off x="2512925" y="2768371"/>
              <a:ext cx="196200" cy="195900"/>
            </a:xfrm>
            <a:prstGeom prst="ellipse">
              <a:avLst/>
            </a:prstGeom>
            <a:solidFill>
              <a:srgbClr val="611B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0" name="Google Shape;140;p17"/>
          <p:cNvSpPr txBox="1"/>
          <p:nvPr/>
        </p:nvSpPr>
        <p:spPr>
          <a:xfrm>
            <a:off x="4467475" y="3236425"/>
            <a:ext cx="16305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Unified 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Interface &amp;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Synchronized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Subsystem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41" name="Google Shape;141;p17"/>
          <p:cNvGrpSpPr/>
          <p:nvPr/>
        </p:nvGrpSpPr>
        <p:grpSpPr>
          <a:xfrm>
            <a:off x="6057585" y="1491253"/>
            <a:ext cx="196200" cy="1404900"/>
            <a:chOff x="4279200" y="1559371"/>
            <a:chExt cx="196200" cy="1404900"/>
          </a:xfrm>
        </p:grpSpPr>
        <p:cxnSp>
          <p:nvCxnSpPr>
            <p:cNvPr id="142" name="Google Shape;142;p17"/>
            <p:cNvCxnSpPr>
              <a:stCxn id="143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rgbClr val="009688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43" name="Google Shape;143;p17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rgbClr val="611B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" name="Google Shape;144;p17"/>
          <p:cNvSpPr txBox="1"/>
          <p:nvPr/>
        </p:nvSpPr>
        <p:spPr>
          <a:xfrm>
            <a:off x="6269774" y="3236432"/>
            <a:ext cx="26622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Modular yet 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Concise &amp; Interconnected</a:t>
            </a:r>
            <a:b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en"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Architecture</a:t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grpSp>
        <p:nvGrpSpPr>
          <p:cNvPr id="145" name="Google Shape;145;p17"/>
          <p:cNvGrpSpPr/>
          <p:nvPr/>
        </p:nvGrpSpPr>
        <p:grpSpPr>
          <a:xfrm>
            <a:off x="2469600" y="1481521"/>
            <a:ext cx="196200" cy="1404900"/>
            <a:chOff x="4279200" y="1559371"/>
            <a:chExt cx="196200" cy="1404900"/>
          </a:xfrm>
        </p:grpSpPr>
        <p:cxnSp>
          <p:nvCxnSpPr>
            <p:cNvPr id="146" name="Google Shape;146;p17"/>
            <p:cNvCxnSpPr>
              <a:stCxn id="147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rgbClr val="009688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47" name="Google Shape;147;p17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rgbClr val="611B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" name="Google Shape;148;p17"/>
          <p:cNvGrpSpPr/>
          <p:nvPr/>
        </p:nvGrpSpPr>
        <p:grpSpPr>
          <a:xfrm>
            <a:off x="2469600" y="2690521"/>
            <a:ext cx="196200" cy="1404905"/>
            <a:chOff x="2512925" y="2768371"/>
            <a:chExt cx="196200" cy="1404905"/>
          </a:xfrm>
        </p:grpSpPr>
        <p:cxnSp>
          <p:nvCxnSpPr>
            <p:cNvPr id="149" name="Google Shape;149;p17"/>
            <p:cNvCxnSpPr/>
            <p:nvPr/>
          </p:nvCxnSpPr>
          <p:spPr>
            <a:xfrm>
              <a:off x="261102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rgbClr val="009688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0" name="Google Shape;150;p17"/>
            <p:cNvSpPr/>
            <p:nvPr/>
          </p:nvSpPr>
          <p:spPr>
            <a:xfrm>
              <a:off x="2512925" y="2768371"/>
              <a:ext cx="196200" cy="195900"/>
            </a:xfrm>
            <a:prstGeom prst="ellipse">
              <a:avLst/>
            </a:prstGeom>
            <a:solidFill>
              <a:srgbClr val="611B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" name="Google Shape;151;p17"/>
          <p:cNvGrpSpPr/>
          <p:nvPr/>
        </p:nvGrpSpPr>
        <p:grpSpPr>
          <a:xfrm>
            <a:off x="660000" y="1481521"/>
            <a:ext cx="196200" cy="1404900"/>
            <a:chOff x="4279200" y="1559371"/>
            <a:chExt cx="196200" cy="1404900"/>
          </a:xfrm>
        </p:grpSpPr>
        <p:cxnSp>
          <p:nvCxnSpPr>
            <p:cNvPr id="152" name="Google Shape;152;p17"/>
            <p:cNvCxnSpPr>
              <a:stCxn id="153" idx="0"/>
            </p:cNvCxnSpPr>
            <p:nvPr/>
          </p:nvCxnSpPr>
          <p:spPr>
            <a:xfrm rot="10800000">
              <a:off x="4377300" y="1559371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rgbClr val="009688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3" name="Google Shape;153;p17"/>
            <p:cNvSpPr/>
            <p:nvPr/>
          </p:nvSpPr>
          <p:spPr>
            <a:xfrm>
              <a:off x="4279200" y="2768371"/>
              <a:ext cx="196200" cy="195900"/>
            </a:xfrm>
            <a:prstGeom prst="ellipse">
              <a:avLst/>
            </a:prstGeom>
            <a:solidFill>
              <a:srgbClr val="611B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4" name="Google Shape;154;p17"/>
          <p:cNvGrpSpPr/>
          <p:nvPr/>
        </p:nvGrpSpPr>
        <p:grpSpPr>
          <a:xfrm>
            <a:off x="660000" y="2690521"/>
            <a:ext cx="196200" cy="1404905"/>
            <a:chOff x="2512925" y="2768371"/>
            <a:chExt cx="196200" cy="1404905"/>
          </a:xfrm>
        </p:grpSpPr>
        <p:cxnSp>
          <p:nvCxnSpPr>
            <p:cNvPr id="155" name="Google Shape;155;p17"/>
            <p:cNvCxnSpPr/>
            <p:nvPr/>
          </p:nvCxnSpPr>
          <p:spPr>
            <a:xfrm>
              <a:off x="2611025" y="2964276"/>
              <a:ext cx="0" cy="1209000"/>
            </a:xfrm>
            <a:prstGeom prst="straightConnector1">
              <a:avLst/>
            </a:prstGeom>
            <a:noFill/>
            <a:ln cap="flat" cmpd="sng" w="19050">
              <a:solidFill>
                <a:srgbClr val="009688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156" name="Google Shape;156;p17"/>
            <p:cNvSpPr/>
            <p:nvPr/>
          </p:nvSpPr>
          <p:spPr>
            <a:xfrm>
              <a:off x="2512925" y="2768371"/>
              <a:ext cx="196200" cy="195900"/>
            </a:xfrm>
            <a:prstGeom prst="ellipse">
              <a:avLst/>
            </a:prstGeom>
            <a:solidFill>
              <a:srgbClr val="611B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Data</a:t>
            </a:r>
            <a:r>
              <a:rPr b="1" lang="en" sz="30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Source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							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623100" y="996500"/>
            <a:ext cx="7897800" cy="3970200"/>
          </a:xfrm>
          <a:prstGeom prst="roundRect">
            <a:avLst>
              <a:gd fmla="val 8766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have a direct line to a conventional livestock farm stakeholder.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Co-founder of Parallax Infotech gave approximate costs of the software development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Estimated farm resource &amp; operation costs </a:t>
            </a:r>
            <a:b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(based on current manual record-keeping process.)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Estimated development &amp; Training cost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Livestock feed prices have been collected from ARMAN Feeds and Fisheries Ltd.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/>
        </p:nvSpPr>
        <p:spPr>
          <a:xfrm>
            <a:off x="176100" y="3436778"/>
            <a:ext cx="5715000" cy="12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Solution: Replace</a:t>
            </a:r>
            <a:r>
              <a:rPr b="1" lang="en" sz="20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 the whole project </a:t>
            </a:r>
            <a: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9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Web-based application 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Relational databases </a:t>
            </a:r>
            <a:endParaRPr sz="19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07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0" y="-825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Technical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Feasibility l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19"/>
          <p:cNvSpPr txBox="1"/>
          <p:nvPr/>
        </p:nvSpPr>
        <p:spPr>
          <a:xfrm>
            <a:off x="176100" y="1099575"/>
            <a:ext cx="55197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Enhance the previous project? </a:t>
            </a:r>
            <a:endParaRPr b="1" sz="20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Previous system: Entirely </a:t>
            </a:r>
            <a:r>
              <a:rPr lang="en" sz="16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paper-based</a:t>
            </a:r>
            <a:endParaRPr sz="1600">
              <a:solidFill>
                <a:srgbClr val="99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No existing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software infrastructure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Therefore, a </a:t>
            </a: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freshly built system from scratch is required .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77" name="Google Shape;177;p19" title="paper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2850" y="1099575"/>
            <a:ext cx="2748900" cy="1704000"/>
          </a:xfrm>
          <a:prstGeom prst="flowChartAlternateProcess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90450" y="3242684"/>
            <a:ext cx="2513700" cy="15066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165100" y="653400"/>
            <a:ext cx="978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EO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08/18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Technical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Feasibility ll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76100" y="1099575"/>
            <a:ext cx="4269900" cy="43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Existence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of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technology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Web/mobile interface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Dashboards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Reporting tools.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110875" y="1051950"/>
            <a:ext cx="3943500" cy="22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Lack of in-house expertise but they can be hired </a:t>
            </a:r>
            <a:endParaRPr b="1" sz="2000">
              <a:solidFill>
                <a:srgbClr val="CC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UI development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Backend development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Testing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Mobile app dev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76100" y="3321030"/>
            <a:ext cx="52947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Packaged Solution &amp; Customization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Available but requires customization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Each subsystem needs to be </a:t>
            </a:r>
            <a:r>
              <a:rPr lang="en" sz="17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synchronised </a:t>
            </a: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as needed.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8165100" y="653400"/>
            <a:ext cx="978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EO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059100" y="3520825"/>
            <a:ext cx="2305500" cy="105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Conclusion: </a:t>
            </a:r>
            <a:r>
              <a:rPr lang="en" sz="20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Technically </a:t>
            </a:r>
            <a:r>
              <a:rPr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Feasible</a:t>
            </a:r>
            <a:endParaRPr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09/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Economical</a:t>
            </a:r>
            <a:r>
              <a:rPr b="1" lang="en" sz="30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Feasibility I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1" name="Google Shape;201;p21" title="COS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6839" y="1161332"/>
            <a:ext cx="3143400" cy="1740900"/>
          </a:xfrm>
          <a:prstGeom prst="flowChartAlternateProcess">
            <a:avLst/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4781149" y="3225169"/>
            <a:ext cx="3424500" cy="13467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Observation</a:t>
            </a: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Long term benefits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Better efficiency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One time cost.</a:t>
            </a:r>
            <a:endParaRPr sz="1200"/>
          </a:p>
        </p:txBody>
      </p:sp>
      <p:sp>
        <p:nvSpPr>
          <p:cNvPr id="203" name="Google Shape;203;p21"/>
          <p:cNvSpPr txBox="1"/>
          <p:nvPr/>
        </p:nvSpPr>
        <p:spPr>
          <a:xfrm>
            <a:off x="8165100" y="653400"/>
            <a:ext cx="978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1" lang="en" sz="18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300825" y="1099575"/>
            <a:ext cx="4884900" cy="3666300"/>
          </a:xfrm>
          <a:prstGeom prst="round2Diag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Benefit </a:t>
            </a:r>
            <a:r>
              <a:rPr b="1" lang="en" sz="2000">
                <a:latin typeface="Poppins"/>
                <a:ea typeface="Poppins"/>
                <a:cs typeface="Poppins"/>
                <a:sym typeface="Poppins"/>
              </a:rPr>
              <a:t>vs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Cost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Benefits: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Reduced manual record keeping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data loss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No delayed decisions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Improved tracking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b="1"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Cost</a:t>
            </a:r>
            <a: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Development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Training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Setup</a:t>
            </a: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	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2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Economical</a:t>
            </a:r>
            <a:r>
              <a:rPr b="1" lang="en" sz="30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Feasibility II</a:t>
            </a:r>
            <a:endParaRPr sz="18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362488" y="1311600"/>
            <a:ext cx="4199100" cy="252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Major Cost Considerations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 analysis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Design work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Employee training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Outsource hiring cost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Database setup</a:t>
            </a:r>
            <a:endParaRPr sz="1300"/>
          </a:p>
        </p:txBody>
      </p:sp>
      <p:sp>
        <p:nvSpPr>
          <p:cNvPr id="215" name="Google Shape;215;p22"/>
          <p:cNvSpPr/>
          <p:nvPr/>
        </p:nvSpPr>
        <p:spPr>
          <a:xfrm>
            <a:off x="4752813" y="1311600"/>
            <a:ext cx="4028700" cy="2520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Clear value for System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Improved </a:t>
            </a: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resource plan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Ensures accountability 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Poppins"/>
              <a:buChar char="●"/>
            </a:pPr>
            <a:r>
              <a:rPr lang="en" sz="1600">
                <a:latin typeface="Poppins"/>
                <a:ea typeface="Poppins"/>
                <a:cs typeface="Poppins"/>
                <a:sym typeface="Poppins"/>
              </a:rPr>
              <a:t>Reduction of waste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Automated data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Flawless transaction record</a:t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2245950" y="4146025"/>
            <a:ext cx="4652100" cy="6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Conclusion: </a:t>
            </a: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Economically Feasible</a:t>
            </a:r>
            <a:endParaRPr sz="1300">
              <a:solidFill>
                <a:srgbClr val="38761D"/>
              </a:solidFill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8165100" y="653400"/>
            <a:ext cx="978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b="1" lang="en" sz="18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b="1" lang="en" sz="1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3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3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Operational</a:t>
            </a:r>
            <a:r>
              <a:rPr b="1" lang="en" sz="30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Feasibility I 							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176100" y="1681600"/>
            <a:ext cx="4381800" cy="2335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System operates correctly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?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Made by the </a:t>
            </a: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experts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in the field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Thorough </a:t>
            </a: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ystem analysis</a:t>
            </a:r>
            <a:endParaRPr sz="16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User feedback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taken into consideration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4711200" y="1725100"/>
            <a:ext cx="4271700" cy="2292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Will system be used once deployed ?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Intuitive 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Training 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will be provided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Simple &amp; </a:t>
            </a: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helpful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8165100" y="653400"/>
            <a:ext cx="978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b="1" lang="en" sz="18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endParaRPr sz="18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4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Operational</a:t>
            </a:r>
            <a:r>
              <a:rPr b="1" lang="en" sz="30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Feasibility II							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1111500" y="1066800"/>
            <a:ext cx="6921000" cy="3009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b="1" lang="en" sz="20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impact workflows and processes?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Improved workflow: 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Digital record keeping 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○"/>
            </a:pP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Centralised reportin</a:t>
            </a:r>
            <a:r>
              <a:rPr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Easy Tracking:</a:t>
            </a:r>
            <a:endParaRPr sz="18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Daily logs </a:t>
            </a: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&amp; Working Schedules</a:t>
            </a:r>
            <a:endParaRPr sz="16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Inventory updates </a:t>
            </a:r>
            <a:endParaRPr sz="16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1" marL="9144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600"/>
              <a:buFont typeface="Poppins"/>
              <a:buChar char="○"/>
            </a:pPr>
            <a:r>
              <a:rPr lang="en" sz="16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Health monitoring</a:t>
            </a:r>
            <a:endParaRPr sz="16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2072850" y="4300333"/>
            <a:ext cx="4998300" cy="661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Conclusion:</a:t>
            </a: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7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Operationally </a:t>
            </a:r>
            <a:r>
              <a:rPr lang="en" sz="17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Feasible</a:t>
            </a:r>
            <a:endParaRPr>
              <a:solidFill>
                <a:srgbClr val="38761D"/>
              </a:solidFill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8165100" y="653400"/>
            <a:ext cx="978900" cy="2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TE</a:t>
            </a:r>
            <a:r>
              <a:rPr b="1" lang="en" sz="1800">
                <a:solidFill>
                  <a:srgbClr val="274E13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endParaRPr sz="1800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Cost Forecast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							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623100" y="1099575"/>
            <a:ext cx="7897800" cy="3770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Cost Item										Estimated Cost</a:t>
            </a: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—--------------------------------------------------------</a:t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System analyst			</a:t>
            </a:r>
            <a:r>
              <a:rPr lang="en" sz="1700">
                <a:solidFill>
                  <a:srgbClr val="CC0000"/>
                </a:solidFill>
                <a:latin typeface="Poppins"/>
                <a:ea typeface="Poppins"/>
                <a:cs typeface="Poppins"/>
                <a:sym typeface="Poppins"/>
              </a:rPr>
              <a:t>[primary]</a:t>
            </a: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-&gt;	৳60,000*(4 month/yr)</a:t>
            </a:r>
            <a:b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Software developer					-&gt;		৳80,000*2</a:t>
            </a:r>
            <a:b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Database/server setup				-&gt;		৳35,000*2</a:t>
            </a:r>
            <a:b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Training and transition				-&gt; 		৳55,000				</a:t>
            </a: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—------------------------------------------------------</a:t>
            </a: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7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Total One-Year Cost			  		-&gt; 	        ৳510,000</a:t>
            </a:r>
            <a:endParaRPr b="1" sz="17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13/18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6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6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14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p26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Benefit 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Forecast						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347175" y="1046300"/>
            <a:ext cx="8111100" cy="3843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i)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Reduced manual record-keeping effort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6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-&gt;	৳180,000		 ((30k[manager] - 15k[data insertion])  *  12)</a:t>
            </a:r>
            <a:b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ii) Reduced feed mismanagement		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-&gt;	৳140,000	 	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(10*25 kg packet of cattle feed *12)   	[20 cow approx]</a:t>
            </a:r>
            <a:b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 -&gt;	৳60,000 		(2*50kg sacks chicken feed*12)	[1k chicken approx]</a:t>
            </a:r>
            <a:b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 -&gt;    ৳100,000  	(5*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25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kg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sacks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of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fish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feed *12)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[5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acre pond of Mixed  </a:t>
            </a:r>
            <a:b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												carp fish]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iii)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Faster reporting and decision-making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-&gt;	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৳12,000 [5% upscaling]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iv) Better Inventory Control					-&gt; 	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৳10,000 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—-----------------------------------------------------------------------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Total Yearly Benefit							-&gt; 		৳492,000</a:t>
            </a:r>
            <a:endParaRPr b="1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7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7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9" name="Google Shape;269;p27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Cost vs Benefit</a:t>
            </a:r>
            <a:r>
              <a:rPr b="1" lang="en" sz="30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Analysis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							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27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342950" y="1065000"/>
            <a:ext cx="7897800" cy="3013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272" name="Google Shape;272;p27"/>
          <p:cNvGraphicFramePr/>
          <p:nvPr/>
        </p:nvGraphicFramePr>
        <p:xfrm>
          <a:off x="856850" y="1452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{D90DE7C4-90D2-4691-9439-452F06F8882D}</a:tableStyleId>
              </a:tblPr>
              <a:tblGrid>
                <a:gridCol w="4349825"/>
                <a:gridCol w="2613125"/>
              </a:tblGrid>
              <a:tr h="40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         </a:t>
                      </a:r>
                      <a:r>
                        <a:rPr b="1" lang="en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</a:t>
                      </a:r>
                      <a:r>
                        <a:rPr b="1" lang="en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tem</a:t>
                      </a:r>
                      <a:endParaRPr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Amount</a:t>
                      </a:r>
                      <a:endParaRPr sz="20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Total Initial Cost</a:t>
                      </a:r>
                      <a:endParaRPr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৳510,000</a:t>
                      </a:r>
                      <a:endParaRPr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Yearly Benefit</a:t>
                      </a:r>
                      <a:endParaRPr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৳492,000</a:t>
                      </a:r>
                      <a:endParaRPr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First-Year Net Position</a:t>
                      </a:r>
                      <a:endParaRPr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৳18,000 loss</a:t>
                      </a:r>
                      <a:endParaRPr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4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Second-Year Net Position</a:t>
                      </a:r>
                      <a:endParaRPr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৳474,000 gain</a:t>
                      </a:r>
                      <a:endParaRPr sz="1500"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3" name="Google Shape;273;p27"/>
          <p:cNvSpPr/>
          <p:nvPr/>
        </p:nvSpPr>
        <p:spPr>
          <a:xfrm>
            <a:off x="338425" y="4280650"/>
            <a:ext cx="7897800" cy="74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Initially, we might </a:t>
            </a:r>
            <a:r>
              <a:rPr lang="en" sz="1500">
                <a:solidFill>
                  <a:srgbClr val="990000"/>
                </a:solidFill>
                <a:latin typeface="Poppins"/>
                <a:ea typeface="Poppins"/>
                <a:cs typeface="Poppins"/>
                <a:sym typeface="Poppins"/>
              </a:rPr>
              <a:t>incur an amount of loss</a:t>
            </a:r>
            <a:r>
              <a:rPr lang="en" sz="1500">
                <a:latin typeface="Poppins"/>
                <a:ea typeface="Poppins"/>
                <a:cs typeface="Poppins"/>
                <a:sym typeface="Poppins"/>
              </a:rPr>
              <a:t> but after that we will gain</a:t>
            </a:r>
            <a:r>
              <a:rPr lang="en" sz="15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 benefits in multitudes.</a:t>
            </a:r>
            <a:endParaRPr sz="15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16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-187500" y="-8250"/>
            <a:ext cx="475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Payback</a:t>
            </a: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Analysis</a:t>
            </a:r>
            <a:endParaRPr sz="18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" name="Google Shape;282;p28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28"/>
          <p:cNvSpPr/>
          <p:nvPr/>
        </p:nvSpPr>
        <p:spPr>
          <a:xfrm>
            <a:off x="321675" y="1099575"/>
            <a:ext cx="7897800" cy="90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Payback period means how long it takes to recover the investment.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" name="Google Shape;284;p28"/>
          <p:cNvSpPr/>
          <p:nvPr/>
        </p:nvSpPr>
        <p:spPr>
          <a:xfrm>
            <a:off x="321675" y="4199150"/>
            <a:ext cx="7897800" cy="74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estimated payback period is around </a:t>
            </a:r>
            <a:r>
              <a:rPr b="1"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1.078 years.</a:t>
            </a:r>
            <a:br>
              <a:rPr b="1"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latin typeface="Poppins"/>
                <a:ea typeface="Poppins"/>
                <a:cs typeface="Poppins"/>
                <a:sym typeface="Poppins"/>
              </a:rPr>
              <a:t>The system can </a:t>
            </a:r>
            <a:r>
              <a:rPr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recover </a:t>
            </a:r>
            <a:r>
              <a:rPr lang="en">
                <a:latin typeface="Poppins"/>
                <a:ea typeface="Poppins"/>
                <a:cs typeface="Poppins"/>
                <a:sym typeface="Poppins"/>
              </a:rPr>
              <a:t>its cost within </a:t>
            </a:r>
            <a:r>
              <a:rPr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nearly </a:t>
            </a:r>
            <a:r>
              <a:rPr b="1"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one year and one months</a:t>
            </a:r>
            <a:r>
              <a:rPr lang="en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5" name="Google Shape;285;p28"/>
          <p:cNvSpPr/>
          <p:nvPr/>
        </p:nvSpPr>
        <p:spPr>
          <a:xfrm>
            <a:off x="321675" y="2252950"/>
            <a:ext cx="7897800" cy="174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Payback Period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Initial Investment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÷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Annual Net Benefit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Payback Period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= ৳510,000 ÷ ৳492,000 =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1.036 years</a:t>
            </a:r>
            <a:b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9"/>
          <p:cNvSpPr/>
          <p:nvPr/>
        </p:nvSpPr>
        <p:spPr>
          <a:xfrm>
            <a:off x="0" y="0"/>
            <a:ext cx="9144000" cy="9069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8458275" y="4535925"/>
            <a:ext cx="790500" cy="743100"/>
          </a:xfrm>
          <a:prstGeom prst="ellipse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8486850" y="4683600"/>
            <a:ext cx="913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r>
              <a:rPr b="1" lang="en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/18</a:t>
            </a:r>
            <a:endParaRPr b="1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" name="Google Shape;293;p29"/>
          <p:cNvSpPr txBox="1"/>
          <p:nvPr/>
        </p:nvSpPr>
        <p:spPr>
          <a:xfrm>
            <a:off x="0" y="0"/>
            <a:ext cx="9144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Break-Even</a:t>
            </a:r>
            <a:r>
              <a:rPr b="1" lang="en" sz="3000">
                <a:solidFill>
                  <a:srgbClr val="F4F4F4"/>
                </a:solidFill>
                <a:latin typeface="Poppins"/>
                <a:ea typeface="Poppins"/>
                <a:cs typeface="Poppins"/>
                <a:sym typeface="Poppins"/>
              </a:rPr>
              <a:t> Analysis							</a:t>
            </a:r>
            <a:endParaRPr sz="1800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4" name="Google Shape;294;p29"/>
          <p:cNvSpPr txBox="1"/>
          <p:nvPr/>
        </p:nvSpPr>
        <p:spPr>
          <a:xfrm>
            <a:off x="176100" y="1099575"/>
            <a:ext cx="3570300" cy="1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br>
              <a:rPr b="1" lang="en" sz="1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" name="Google Shape;295;p29"/>
          <p:cNvSpPr/>
          <p:nvPr/>
        </p:nvSpPr>
        <p:spPr>
          <a:xfrm>
            <a:off x="623100" y="1169875"/>
            <a:ext cx="7897800" cy="906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Break-even means the point where total benefits become equal to total costs.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623100" y="2323250"/>
            <a:ext cx="4029600" cy="270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1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Total Initial Cost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৳510,000</a:t>
            </a:r>
            <a:b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Yearly benefit 	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৳492,000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Monthly benefit 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৳492,000 ÷ 12 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				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 	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৳41,000</a:t>
            </a:r>
            <a:endParaRPr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7" name="Google Shape;297;p29"/>
          <p:cNvSpPr/>
          <p:nvPr/>
        </p:nvSpPr>
        <p:spPr>
          <a:xfrm>
            <a:off x="4794075" y="2339750"/>
            <a:ext cx="3664200" cy="2701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Break-even Point 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৳510,000 ÷ ৳41,000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12.43 months</a:t>
            </a:r>
            <a:br>
              <a:rPr b="1"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" sz="13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" sz="13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3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The system is expected to </a:t>
            </a:r>
            <a:r>
              <a:rPr b="1" lang="en" sz="13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break even </a:t>
            </a:r>
            <a:r>
              <a:rPr lang="en" sz="13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in approximately </a:t>
            </a:r>
            <a:r>
              <a:rPr b="1" lang="en" sz="13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13 months</a:t>
            </a:r>
            <a:r>
              <a:rPr lang="en" sz="1300">
                <a:solidFill>
                  <a:srgbClr val="38761D"/>
                </a:solidFill>
                <a:latin typeface="Poppins"/>
                <a:ea typeface="Poppins"/>
                <a:cs typeface="Poppins"/>
                <a:sym typeface="Poppins"/>
              </a:rPr>
              <a:t> (approx.)</a:t>
            </a:r>
            <a:endParaRPr sz="1600">
              <a:solidFill>
                <a:srgbClr val="38761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/>
          <p:nvPr/>
        </p:nvSpPr>
        <p:spPr>
          <a:xfrm>
            <a:off x="0" y="1379325"/>
            <a:ext cx="9144000" cy="17094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0"/>
          <p:cNvSpPr txBox="1"/>
          <p:nvPr/>
        </p:nvSpPr>
        <p:spPr>
          <a:xfrm>
            <a:off x="1135800" y="1896375"/>
            <a:ext cx="68724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Thank You</a:t>
            </a:r>
            <a:endParaRPr sz="320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1200900" y="3480450"/>
            <a:ext cx="6742200" cy="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50">
                <a:solidFill>
                  <a:srgbClr val="5EAFA6"/>
                </a:solidFill>
                <a:latin typeface="Poppins"/>
                <a:ea typeface="Poppins"/>
                <a:cs typeface="Poppins"/>
                <a:sym typeface="Poppins"/>
              </a:rPr>
              <a:t>We are ready for your valuable feedback!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0728" y="279374"/>
            <a:ext cx="582550" cy="9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