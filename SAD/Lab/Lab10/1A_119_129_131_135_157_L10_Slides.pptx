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embeddedFontLst>
    <p:embeddedFont>
      <p:font typeface="Poppins"/>
      <p:regular r:id="rId24"/>
      <p:bold r:id="rId25"/>
      <p:italic r:id="rId26"/>
      <p:boldItalic r:id="rId27"/>
    </p:embeddedFont>
    <p:embeddedFont>
      <p:font typeface="Poppins Light"/>
      <p:regular r:id="rId28"/>
      <p:bold r:id="rId29"/>
      <p:italic r:id="rId30"/>
      <p:boldItalic r:id="rId31"/>
    </p:embeddedFont>
    <p:embeddedFont>
      <p:font typeface="Poppins Medium"/>
      <p:regular r:id="rId32"/>
      <p:bold r:id="rId33"/>
      <p:italic r:id="rId34"/>
      <p:boldItalic r:id="rId35"/>
    </p:embeddedFont>
    <p:embeddedFont>
      <p:font typeface="Poppins Black"/>
      <p:bold r:id="rId36"/>
      <p:boldItalic r:id="rId37"/>
    </p:embeddedFont>
    <p:embeddedFont>
      <p:font typeface="Poppins SemiBold"/>
      <p:regular r:id="rId38"/>
      <p:bold r:id="rId39"/>
      <p:italic r:id="rId40"/>
      <p:boldItalic r:id="rId41"/>
    </p:embeddedFont>
    <p:embeddedFont>
      <p:font typeface="Poppins ExtraLight"/>
      <p:regular r:id="rId42"/>
      <p:bold r:id="rId43"/>
      <p:italic r:id="rId44"/>
      <p:boldItalic r:id="rId45"/>
    </p:embeddedFont>
    <p:embeddedFont>
      <p:font typeface="Poppins ExtraBold"/>
      <p:bold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oppinsSemiBold-italic.fntdata"/><Relationship Id="rId20" Type="http://schemas.openxmlformats.org/officeDocument/2006/relationships/slide" Target="slides/slide15.xml"/><Relationship Id="rId42" Type="http://schemas.openxmlformats.org/officeDocument/2006/relationships/font" Target="fonts/PoppinsExtraLight-regular.fntdata"/><Relationship Id="rId41" Type="http://schemas.openxmlformats.org/officeDocument/2006/relationships/font" Target="fonts/PoppinsSemiBold-boldItalic.fntdata"/><Relationship Id="rId22" Type="http://schemas.openxmlformats.org/officeDocument/2006/relationships/slide" Target="slides/slide17.xml"/><Relationship Id="rId44" Type="http://schemas.openxmlformats.org/officeDocument/2006/relationships/font" Target="fonts/PoppinsExtraLight-italic.fntdata"/><Relationship Id="rId21" Type="http://schemas.openxmlformats.org/officeDocument/2006/relationships/slide" Target="slides/slide16.xml"/><Relationship Id="rId43" Type="http://schemas.openxmlformats.org/officeDocument/2006/relationships/font" Target="fonts/PoppinsExtraLight-bold.fntdata"/><Relationship Id="rId24" Type="http://schemas.openxmlformats.org/officeDocument/2006/relationships/font" Target="fonts/Poppins-regular.fntdata"/><Relationship Id="rId46" Type="http://schemas.openxmlformats.org/officeDocument/2006/relationships/font" Target="fonts/PoppinsExtraBold-bold.fntdata"/><Relationship Id="rId23" Type="http://schemas.openxmlformats.org/officeDocument/2006/relationships/slide" Target="slides/slide18.xml"/><Relationship Id="rId45" Type="http://schemas.openxmlformats.org/officeDocument/2006/relationships/font" Target="fonts/PoppinsExtraLight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47" Type="http://schemas.openxmlformats.org/officeDocument/2006/relationships/font" Target="fonts/PoppinsExtraBold-boldItalic.fntdata"/><Relationship Id="rId28" Type="http://schemas.openxmlformats.org/officeDocument/2006/relationships/font" Target="fonts/PoppinsLight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Light-boldItalic.fntdata"/><Relationship Id="rId30" Type="http://schemas.openxmlformats.org/officeDocument/2006/relationships/font" Target="fonts/PoppinsLight-italic.fntdata"/><Relationship Id="rId11" Type="http://schemas.openxmlformats.org/officeDocument/2006/relationships/slide" Target="slides/slide6.xml"/><Relationship Id="rId33" Type="http://schemas.openxmlformats.org/officeDocument/2006/relationships/font" Target="fonts/PoppinsMedium-bold.fntdata"/><Relationship Id="rId10" Type="http://schemas.openxmlformats.org/officeDocument/2006/relationships/slide" Target="slides/slide5.xml"/><Relationship Id="rId32" Type="http://schemas.openxmlformats.org/officeDocument/2006/relationships/font" Target="fonts/PoppinsMedium-regular.fntdata"/><Relationship Id="rId13" Type="http://schemas.openxmlformats.org/officeDocument/2006/relationships/slide" Target="slides/slide8.xml"/><Relationship Id="rId35" Type="http://schemas.openxmlformats.org/officeDocument/2006/relationships/font" Target="fonts/PoppinsMedium-boldItalic.fntdata"/><Relationship Id="rId12" Type="http://schemas.openxmlformats.org/officeDocument/2006/relationships/slide" Target="slides/slide7.xml"/><Relationship Id="rId34" Type="http://schemas.openxmlformats.org/officeDocument/2006/relationships/font" Target="fonts/PoppinsMedium-italic.fntdata"/><Relationship Id="rId15" Type="http://schemas.openxmlformats.org/officeDocument/2006/relationships/slide" Target="slides/slide10.xml"/><Relationship Id="rId37" Type="http://schemas.openxmlformats.org/officeDocument/2006/relationships/font" Target="fonts/PoppinsBlack-boldItalic.fntdata"/><Relationship Id="rId14" Type="http://schemas.openxmlformats.org/officeDocument/2006/relationships/slide" Target="slides/slide9.xml"/><Relationship Id="rId36" Type="http://schemas.openxmlformats.org/officeDocument/2006/relationships/font" Target="fonts/PoppinsBlack-bold.fntdata"/><Relationship Id="rId17" Type="http://schemas.openxmlformats.org/officeDocument/2006/relationships/slide" Target="slides/slide12.xml"/><Relationship Id="rId39" Type="http://schemas.openxmlformats.org/officeDocument/2006/relationships/font" Target="fonts/PoppinsSemiBold-bold.fntdata"/><Relationship Id="rId16" Type="http://schemas.openxmlformats.org/officeDocument/2006/relationships/slide" Target="slides/slide11.xml"/><Relationship Id="rId38" Type="http://schemas.openxmlformats.org/officeDocument/2006/relationships/font" Target="fonts/PoppinsSemiBol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95c3d392a_0_369:notes"/>
          <p:cNvSpPr/>
          <p:nvPr>
            <p:ph idx="2" type="sldImg"/>
          </p:nvPr>
        </p:nvSpPr>
        <p:spPr>
          <a:xfrm>
            <a:off x="381300" y="914400"/>
            <a:ext cx="6096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95c3d392a_0_36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95c3d392a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f95c3d392a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f95c3d392a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95c3d392a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f95c3d392a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95c3d392a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95c3d392a_0_1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f95c3d392a_0_1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95c3d392a_0_1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95c3d392a_0_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f95c3d392a_0_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f95c3d392a_0_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95c3d392a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g3f95c3d392a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95c3d392a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f95c3d392a_0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g3f95c3d392a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3f95c3d392a_0_1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f95c3d392a_0_2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f95c3d392a_0_2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f95c3d392a_0_2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7" name="Google Shape;5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9" name="Google Shape;29;p7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1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4" name="Google Shape;44;p11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5" name="Google Shape;45;p11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0" y="2083800"/>
            <a:ext cx="12192000" cy="22791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pic>
        <p:nvPicPr>
          <p:cNvPr id="61" name="Google Shape;6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7638" y="324266"/>
            <a:ext cx="776733" cy="12701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5"/>
          <p:cNvSpPr txBox="1"/>
          <p:nvPr/>
        </p:nvSpPr>
        <p:spPr>
          <a:xfrm>
            <a:off x="569100" y="2978800"/>
            <a:ext cx="9163200" cy="9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Livestock Management System</a:t>
            </a:r>
            <a:endParaRPr i="1" sz="4000">
              <a:solidFill>
                <a:srgbClr val="FFFFFF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63" name="Google Shape;63;p15"/>
          <p:cNvSpPr txBox="1"/>
          <p:nvPr/>
        </p:nvSpPr>
        <p:spPr>
          <a:xfrm>
            <a:off x="569100" y="2483300"/>
            <a:ext cx="51384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Team : Go Paloks</a:t>
            </a:r>
            <a:endParaRPr sz="300">
              <a:solidFill>
                <a:srgbClr val="59595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69100" y="4363000"/>
            <a:ext cx="68505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300">
                <a:solidFill>
                  <a:srgbClr val="5EAFA6"/>
                </a:solidFill>
                <a:latin typeface="Poppins"/>
                <a:ea typeface="Poppins"/>
                <a:cs typeface="Poppins"/>
                <a:sym typeface="Poppins"/>
              </a:rPr>
              <a:t>CSE 4408: System Analysis and Design Lab</a:t>
            </a:r>
            <a:endParaRPr sz="2400">
              <a:solidFill>
                <a:srgbClr val="595959"/>
              </a:solidFill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569100" y="5589100"/>
            <a:ext cx="2379300" cy="6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12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rgbClr val="595959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Presentation 10</a:t>
            </a:r>
            <a:endParaRPr i="1" sz="1900">
              <a:solidFill>
                <a:srgbClr val="595959"/>
              </a:solidFill>
              <a:latin typeface="Poppins ExtraLight"/>
              <a:ea typeface="Poppins ExtraLight"/>
              <a:cs typeface="Poppins ExtraLight"/>
              <a:sym typeface="Poppins ExtraLight"/>
            </a:endParaRPr>
          </a:p>
          <a:p>
            <a:pPr indent="0" lvl="0" marL="127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rgbClr val="595959"/>
                </a:solidFill>
                <a:latin typeface="Poppins ExtraLight"/>
                <a:ea typeface="Poppins ExtraLight"/>
                <a:cs typeface="Poppins ExtraLight"/>
                <a:sym typeface="Poppins ExtraLight"/>
              </a:rPr>
              <a:t>July 29, 2026</a:t>
            </a:r>
            <a:endParaRPr i="1" sz="1900">
              <a:solidFill>
                <a:srgbClr val="59595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0" y="0"/>
            <a:ext cx="12191700" cy="987600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502920" y="246888"/>
            <a:ext cx="1005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Members</a:t>
            </a:r>
            <a:endParaRPr b="1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11265408" y="5980176"/>
            <a:ext cx="713100" cy="713100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11338560" y="6199632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02/</a:t>
            </a:r>
            <a:r>
              <a:rPr lang="en-US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i="0" sz="1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1097280" y="216126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Trebuchet MS"/>
              <a:buNone/>
            </a:pPr>
            <a:r>
              <a:rPr i="0" lang="en-US" sz="23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508760" y="2188694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Sadnan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3310128" y="2188694"/>
            <a:ext cx="27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3886200" y="2188694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230041119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097280" y="281963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Trebuchet MS"/>
              <a:buNone/>
            </a:pPr>
            <a:r>
              <a:rPr i="0" lang="en-US" sz="23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508760" y="2847062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Tawfiq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3310128" y="2847062"/>
            <a:ext cx="27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886200" y="2847062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230041129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1097280" y="3477998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Trebuchet MS"/>
              <a:buNone/>
            </a:pPr>
            <a:r>
              <a:rPr i="0" lang="en-US" sz="23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508760" y="3505430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Irtisham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3310128" y="3505430"/>
            <a:ext cx="27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3886200" y="3505430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230041131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097280" y="4136366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Trebuchet MS"/>
              <a:buNone/>
            </a:pPr>
            <a:r>
              <a:rPr i="0" lang="en-US" sz="23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508760" y="4163798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Abtahi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310128" y="4163798"/>
            <a:ext cx="27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3886200" y="4163798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230041135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097280" y="479473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000"/>
              <a:buFont typeface="Trebuchet MS"/>
              <a:buNone/>
            </a:pPr>
            <a:r>
              <a:rPr i="0" lang="en-US" sz="23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•</a:t>
            </a:r>
            <a:endParaRPr i="0" sz="2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508760" y="4822166"/>
            <a:ext cx="13260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Arkam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3310128" y="4822166"/>
            <a:ext cx="274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3886200" y="4822166"/>
            <a:ext cx="21945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Trebuchet MS"/>
              <a:buNone/>
            </a:pPr>
            <a:r>
              <a:rPr i="0" lang="en-US" sz="19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230041157</a:t>
            </a:r>
            <a:endParaRPr i="0" sz="19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502920" y="246888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Context</a:t>
            </a:r>
            <a:endParaRPr b="1" i="0" sz="2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11265408" y="5980176"/>
            <a:ext cx="713232" cy="713232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11338560" y="61996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03/18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594350" y="1384375"/>
            <a:ext cx="3248100" cy="48153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822960" y="203911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800"/>
              <a:buFont typeface="Trebuchet M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System</a:t>
            </a:r>
            <a:endParaRPr b="1" i="0" sz="18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655950" y="2621725"/>
            <a:ext cx="2802900" cy="24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i="0" lang="en-US" sz="17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Integrated Farm</a:t>
            </a: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0" lang="en-US" sz="17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Management System</a:t>
            </a:r>
            <a:br>
              <a:rPr i="0" lang="en-US" sz="170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Inventory, Operations, Finance, Sales Tracking</a:t>
            </a:r>
            <a:b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Livestock Health Monitoring System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4225475" y="1384375"/>
            <a:ext cx="3248100" cy="48153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4480560" y="2039112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Main Goal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4434900" y="2666575"/>
            <a:ext cx="25758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Improve Efficiency</a:t>
            </a:r>
            <a:b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Reduce Wastage</a:t>
            </a:r>
            <a:b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Prompt Alert and Decision Making</a:t>
            </a:r>
            <a:b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Real Time Monitoring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7"/>
          <p:cNvSpPr/>
          <p:nvPr/>
        </p:nvSpPr>
        <p:spPr>
          <a:xfrm>
            <a:off x="7856633" y="1384375"/>
            <a:ext cx="3248100" cy="48153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8138160" y="1783087"/>
            <a:ext cx="23775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Today’s Agenda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8103150" y="2711425"/>
            <a:ext cx="2639700" cy="25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Candidate Primitive Processes</a:t>
            </a:r>
            <a:b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Process Specification Form</a:t>
            </a:r>
            <a:b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Structured English</a:t>
            </a:r>
            <a:b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Decision Table &amp; Decision Tree</a:t>
            </a:r>
            <a:b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65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00"/>
              <a:buFont typeface="Poppins"/>
              <a:buChar char="●"/>
            </a:pPr>
            <a:r>
              <a:rPr lang="en-US" sz="17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Ambiguity Handling</a:t>
            </a:r>
            <a:endParaRPr sz="17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502920" y="246888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Process Specification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1265408" y="5980176"/>
            <a:ext cx="713232" cy="713232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1338560" y="61996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04/18</a:t>
            </a:r>
            <a:endParaRPr sz="1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94360" y="1417320"/>
            <a:ext cx="4937700" cy="45264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868680" y="1828800"/>
            <a:ext cx="4297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DFD shows the “WHAT”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1051550" y="2578600"/>
            <a:ext cx="40212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External entities</a:t>
            </a:r>
            <a:b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flows</a:t>
            </a:r>
            <a:b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Data stores</a:t>
            </a:r>
            <a:b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High-level process movement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6629400" y="1417320"/>
            <a:ext cx="4937700" cy="45264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6903725" y="1828800"/>
            <a:ext cx="45543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200"/>
              <a:buFont typeface="Trebuchet MS"/>
              <a:buNone/>
            </a:pP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Spec shows the “HOW”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7086600" y="2578598"/>
            <a:ext cx="4116000" cy="26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Internal business rules</a:t>
            </a:r>
            <a:b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Step-by-step processing logic</a:t>
            </a:r>
            <a:b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Decision outcomes</a:t>
            </a:r>
            <a:b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</a:pPr>
            <a:r>
              <a:rPr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Code-ready documentation</a:t>
            </a:r>
            <a:endParaRPr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5730305" y="3314753"/>
            <a:ext cx="731400" cy="731400"/>
          </a:xfrm>
          <a:prstGeom prst="chevron">
            <a:avLst>
              <a:gd fmla="val 50000" name="adj"/>
            </a:avLst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9"/>
          <p:cNvSpPr/>
          <p:nvPr/>
        </p:nvSpPr>
        <p:spPr>
          <a:xfrm>
            <a:off x="502920" y="246888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Candidate Primitive Processes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1265408" y="5980176"/>
            <a:ext cx="713232" cy="713232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11338560" y="61996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05/18</a:t>
            </a:r>
            <a:endParaRPr b="1" sz="1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594360" y="1325880"/>
            <a:ext cx="1188720" cy="502920"/>
          </a:xfrm>
          <a:prstGeom prst="rect">
            <a:avLst/>
          </a:prstGeom>
          <a:solidFill>
            <a:srgbClr val="27998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9"/>
          <p:cNvSpPr/>
          <p:nvPr/>
        </p:nvSpPr>
        <p:spPr>
          <a:xfrm>
            <a:off x="640080" y="1435608"/>
            <a:ext cx="109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7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DFD No.</a:t>
            </a:r>
            <a:endParaRPr sz="17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1783080" y="1325880"/>
            <a:ext cx="3657600" cy="502920"/>
          </a:xfrm>
          <a:prstGeom prst="rect">
            <a:avLst/>
          </a:prstGeom>
          <a:solidFill>
            <a:srgbClr val="27998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1828800" y="1435608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7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Primitive Process</a:t>
            </a:r>
            <a:endParaRPr sz="17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5440680" y="1325880"/>
            <a:ext cx="6080760" cy="502920"/>
          </a:xfrm>
          <a:prstGeom prst="rect">
            <a:avLst/>
          </a:prstGeom>
          <a:solidFill>
            <a:srgbClr val="27998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5486400" y="1435608"/>
            <a:ext cx="5989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lang="en-US" sz="1700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Reason for Consideration</a:t>
            </a:r>
            <a:endParaRPr sz="17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594360" y="1828800"/>
            <a:ext cx="1188720" cy="530352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9"/>
          <p:cNvSpPr/>
          <p:nvPr/>
        </p:nvSpPr>
        <p:spPr>
          <a:xfrm>
            <a:off x="640080" y="195681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2.1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1783080" y="1828800"/>
            <a:ext cx="3657600" cy="530352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9"/>
          <p:cNvSpPr/>
          <p:nvPr/>
        </p:nvSpPr>
        <p:spPr>
          <a:xfrm>
            <a:off x="1828800" y="1956816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Capture Daily Feed Log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440680" y="1828800"/>
            <a:ext cx="6080760" cy="530352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5486400" y="1956816"/>
            <a:ext cx="5989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Start of daily feed entry flow</a:t>
            </a:r>
            <a:endParaRPr sz="15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594360" y="2359152"/>
            <a:ext cx="1188720" cy="530352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640080" y="2487168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2.2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1783080" y="2359152"/>
            <a:ext cx="3657600" cy="530352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9"/>
          <p:cNvSpPr/>
          <p:nvPr/>
        </p:nvSpPr>
        <p:spPr>
          <a:xfrm>
            <a:off x="1828800" y="248716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Validate Batch &amp; Quantity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5440680" y="2359152"/>
            <a:ext cx="6080760" cy="530352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5486400" y="2487168"/>
            <a:ext cx="5989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Multiple validation conditions</a:t>
            </a:r>
            <a:endParaRPr sz="15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94360" y="2889504"/>
            <a:ext cx="1188720" cy="530352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/>
          <p:nvPr/>
        </p:nvSpPr>
        <p:spPr>
          <a:xfrm>
            <a:off x="640080" y="30175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2.3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1783080" y="2889504"/>
            <a:ext cx="3657600" cy="530352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9"/>
          <p:cNvSpPr/>
          <p:nvPr/>
        </p:nvSpPr>
        <p:spPr>
          <a:xfrm>
            <a:off x="1828800" y="301752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Generate Task Schedule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440680" y="2889504"/>
            <a:ext cx="6080760" cy="530352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9"/>
          <p:cNvSpPr/>
          <p:nvPr/>
        </p:nvSpPr>
        <p:spPr>
          <a:xfrm>
            <a:off x="5486400" y="3017520"/>
            <a:ext cx="5989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Task generation from operation status</a:t>
            </a:r>
            <a:endParaRPr sz="15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594360" y="3419856"/>
            <a:ext cx="1188720" cy="530352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640080" y="354787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2.4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1783080" y="3419856"/>
            <a:ext cx="3657600" cy="530352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1828800" y="354787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Update Daily Operation Log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5440680" y="3419856"/>
            <a:ext cx="6080760" cy="530352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5486400" y="3547872"/>
            <a:ext cx="5989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Sequence with repeated feed-line updates</a:t>
            </a:r>
            <a:endParaRPr sz="15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594360" y="3950208"/>
            <a:ext cx="1188720" cy="530352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640080" y="407822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5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1783080" y="3950208"/>
            <a:ext cx="3657600" cy="530352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1828800" y="4078224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Process Sales &amp; Availability</a:t>
            </a:r>
            <a:endParaRPr sz="155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5440680" y="3950208"/>
            <a:ext cx="6080760" cy="530352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5486400" y="4078224"/>
            <a:ext cx="5989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55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Availability decision and order outcome</a:t>
            </a:r>
            <a:endParaRPr sz="15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841250" y="4865125"/>
            <a:ext cx="10442400" cy="13344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1124750" y="5010909"/>
            <a:ext cx="98754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600"/>
              <a:buFont typeface="Trebuchet MS"/>
              <a:buNone/>
            </a:pP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Selected for formal specification:  	•  2.4	:  Structured English  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600"/>
              <a:buFont typeface="Trebuchet MS"/>
              <a:buNone/>
            </a:pP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       		•  2.2 	:  Decision Table  </a:t>
            </a:r>
            <a:b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 			•  5       	:  Decision Tree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0" y="0"/>
            <a:ext cx="12191700" cy="987600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02920" y="246888"/>
            <a:ext cx="1005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 Specification Form : </a:t>
            </a:r>
            <a:r>
              <a:rPr b="1"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Update Log (I)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11265408" y="5980176"/>
            <a:ext cx="713100" cy="713100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11338560" y="6199632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06/18</a:t>
            </a:r>
            <a:endParaRPr b="1" sz="1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94360" y="11430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rPr lang="en-US" sz="2000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Process: Update Daily Operation Log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3697200" y="1805500"/>
            <a:ext cx="4675800" cy="10302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4118059" y="2006618"/>
            <a:ext cx="383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Process No.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4118059" y="2299237"/>
            <a:ext cx="383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82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2.4</a:t>
            </a:r>
            <a:endParaRPr sz="182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02925" y="3390205"/>
            <a:ext cx="3655200" cy="1713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217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0450" lIns="130450" spcFirstLastPara="1" rIns="130450" wrap="square" tIns="13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737762" y="3703742"/>
            <a:ext cx="3575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5" lIns="875" spcFirstLastPara="1" rIns="875" wrap="square" tIns="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569"/>
              <a:buFont typeface="Trebuchet MS"/>
              <a:buNone/>
            </a:pPr>
            <a:r>
              <a:rPr b="1" lang="en-US" sz="19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Input</a:t>
            </a:r>
            <a:endParaRPr b="1"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37762" y="4215426"/>
            <a:ext cx="35751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875" lIns="875" spcFirstLastPara="1" rIns="875" wrap="square" tIns="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41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Validated Feed Log</a:t>
            </a:r>
            <a:endParaRPr sz="165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41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Task Completion Status</a:t>
            </a:r>
            <a:endParaRPr sz="165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368250" y="3390205"/>
            <a:ext cx="3834600" cy="1713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96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900" lIns="117900" spcFirstLastPara="1" rIns="117900" wrap="square" tIns="117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5"/>
          </a:p>
        </p:txBody>
      </p:sp>
      <p:sp>
        <p:nvSpPr>
          <p:cNvPr id="193" name="Google Shape;193;p20"/>
          <p:cNvSpPr/>
          <p:nvPr/>
        </p:nvSpPr>
        <p:spPr>
          <a:xfrm>
            <a:off x="4747693" y="3687994"/>
            <a:ext cx="3231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" lIns="800" spcFirstLastPara="1" rIns="800" wrap="square" tIns="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418"/>
              <a:buFont typeface="Trebuchet MS"/>
              <a:buNone/>
            </a:pPr>
            <a:r>
              <a:rPr b="1" lang="en-US" sz="1905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 b="1" sz="1905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4747693" y="4129341"/>
            <a:ext cx="32310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" lIns="800" spcFirstLastPara="1" rIns="800" wrap="square" tIns="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3"/>
              <a:buFont typeface="Trebuchet MS"/>
              <a:buNone/>
            </a:pPr>
            <a:r>
              <a:rPr lang="en-US" sz="167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Updated Operation Log</a:t>
            </a:r>
            <a:endParaRPr sz="167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3"/>
              <a:buFont typeface="Trebuchet MS"/>
              <a:buNone/>
            </a:pPr>
            <a:r>
              <a:rPr lang="en-US" sz="167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Operation Summary</a:t>
            </a:r>
            <a:endParaRPr sz="167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8413550" y="3390125"/>
            <a:ext cx="3492000" cy="1713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206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850" lIns="123850" spcFirstLastPara="1" rIns="123850" wrap="square" tIns="123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8630310" y="3679284"/>
            <a:ext cx="3058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" lIns="850" spcFirstLastPara="1" rIns="850" wrap="square" tIns="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490"/>
              <a:buFont typeface="Trebuchet MS"/>
              <a:buNone/>
            </a:pPr>
            <a:r>
              <a:rPr b="1" lang="en-US" sz="1897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Data Stores</a:t>
            </a:r>
            <a:endParaRPr b="1" sz="1897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8630310" y="4103735"/>
            <a:ext cx="30588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" lIns="850" spcFirstLastPara="1" rIns="850" wrap="square" tIns="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3"/>
              <a:buFont typeface="Trebuchet MS"/>
              <a:buNone/>
            </a:pPr>
            <a:r>
              <a:rPr lang="en-US" sz="165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D2 Operation Logs</a:t>
            </a:r>
            <a:endParaRPr sz="16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3"/>
              <a:buFont typeface="Trebuchet MS"/>
              <a:buNone/>
            </a:pPr>
            <a:r>
              <a:rPr lang="en-US" sz="165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D3 Inventory Records</a:t>
            </a:r>
            <a:endParaRPr sz="16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/>
          <p:nvPr/>
        </p:nvSpPr>
        <p:spPr>
          <a:xfrm>
            <a:off x="0" y="0"/>
            <a:ext cx="12191700" cy="987600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02920" y="246888"/>
            <a:ext cx="1005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 Specification Form : </a:t>
            </a:r>
            <a:r>
              <a:rPr b="1"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Update Log (II)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11265408" y="5980176"/>
            <a:ext cx="713100" cy="713100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1"/>
          <p:cNvSpPr/>
          <p:nvPr/>
        </p:nvSpPr>
        <p:spPr>
          <a:xfrm>
            <a:off x="11338560" y="6199632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07/18</a:t>
            </a:r>
            <a:endParaRPr b="1" sz="1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94360" y="11430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rPr lang="en-US" sz="2000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Process: Update Daily Operation Log</a:t>
            </a:r>
            <a:endParaRPr sz="20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94350" y="2044338"/>
            <a:ext cx="3566100" cy="1476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09" name="Google Shape;209;p21"/>
          <p:cNvSpPr/>
          <p:nvPr/>
        </p:nvSpPr>
        <p:spPr>
          <a:xfrm>
            <a:off x="758942" y="2252722"/>
            <a:ext cx="3237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Trigger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758942" y="2762460"/>
            <a:ext cx="3237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Farm worker feed log is accepted</a:t>
            </a:r>
            <a:endParaRPr sz="165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4434825" y="2044454"/>
            <a:ext cx="3566100" cy="1476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12" name="Google Shape;212;p21"/>
          <p:cNvSpPr/>
          <p:nvPr/>
        </p:nvSpPr>
        <p:spPr>
          <a:xfrm>
            <a:off x="4599417" y="2252822"/>
            <a:ext cx="3237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Precondition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4599427" y="2762460"/>
            <a:ext cx="3237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Feed batch and livestock group are valid</a:t>
            </a:r>
            <a:endParaRPr sz="165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8275325" y="2044454"/>
            <a:ext cx="3291900" cy="1476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15" name="Google Shape;215;p21"/>
          <p:cNvSpPr/>
          <p:nvPr/>
        </p:nvSpPr>
        <p:spPr>
          <a:xfrm>
            <a:off x="8439917" y="2252822"/>
            <a:ext cx="2962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Postcondition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8439913" y="2762460"/>
            <a:ext cx="29628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Daily operation record is saved</a:t>
            </a:r>
            <a:endParaRPr sz="165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192350" y="3840475"/>
            <a:ext cx="5847000" cy="18828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647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370670" y="4014128"/>
            <a:ext cx="5488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92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Business Rule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370675" y="4390375"/>
            <a:ext cx="5488500" cy="11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2"/>
              <a:buFont typeface="Trebuchet MS"/>
              <a:buNone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Every feed usage line must be recorded under: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correct date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worker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farm section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livestock group.</a:t>
            </a:r>
            <a:endParaRPr sz="1622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6334475" y="3840475"/>
            <a:ext cx="5745900" cy="18828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647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7"/>
          </a:p>
        </p:txBody>
      </p:sp>
      <p:sp>
        <p:nvSpPr>
          <p:cNvPr id="221" name="Google Shape;221;p21"/>
          <p:cNvSpPr/>
          <p:nvPr/>
        </p:nvSpPr>
        <p:spPr>
          <a:xfrm>
            <a:off x="6512795" y="4521986"/>
            <a:ext cx="53889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2"/>
              <a:buFont typeface="Trebuchet MS"/>
              <a:buNone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Structured English</a:t>
            </a:r>
            <a:endParaRPr sz="1622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2"/>
              <a:buFont typeface="Trebuchet MS"/>
              <a:buNone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Best for sequential processing with a small loop.</a:t>
            </a:r>
            <a:endParaRPr sz="1622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6512795" y="4055689"/>
            <a:ext cx="538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92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Technique Used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02920" y="246888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Structured English : Update Log (I)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11265408" y="5980176"/>
            <a:ext cx="713232" cy="713232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11338560" y="6199632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08/18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2896050" y="1306160"/>
            <a:ext cx="6197700" cy="22092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2"/>
          <p:cNvSpPr/>
          <p:nvPr/>
        </p:nvSpPr>
        <p:spPr>
          <a:xfrm>
            <a:off x="3467899" y="1469838"/>
            <a:ext cx="562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600"/>
              <a:buFont typeface="Trebuchet MS"/>
              <a:buNone/>
            </a:pPr>
            <a:r>
              <a:rPr b="1" lang="en-US" sz="1800">
                <a:solidFill>
                  <a:srgbClr val="17224D"/>
                </a:solidFill>
                <a:latin typeface="Poppins"/>
                <a:ea typeface="Poppins"/>
                <a:cs typeface="Poppins"/>
                <a:sym typeface="Poppins"/>
              </a:rPr>
              <a:t>Why suitable?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3563482" y="2228777"/>
            <a:ext cx="5625900" cy="87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Poppins"/>
              <a:buChar char="●"/>
            </a:pPr>
            <a: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Mostly sequential</a:t>
            </a:r>
            <a:b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Poppins"/>
              <a:buChar char="●"/>
            </a:pPr>
            <a: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Contains one simple loop</a:t>
            </a:r>
            <a:b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Poppins"/>
              <a:buChar char="●"/>
            </a:pPr>
            <a: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Easy to translate into code</a:t>
            </a:r>
            <a:endParaRPr sz="16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2896050" y="3773523"/>
            <a:ext cx="6135600" cy="22092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3462385" y="3929446"/>
            <a:ext cx="55692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600"/>
              <a:buFont typeface="Trebuchet MS"/>
              <a:buNone/>
            </a:pPr>
            <a:r>
              <a:rPr b="1" lang="en-US" sz="1800">
                <a:solidFill>
                  <a:srgbClr val="17224D"/>
                </a:solidFill>
                <a:latin typeface="Poppins"/>
                <a:ea typeface="Poppins"/>
                <a:cs typeface="Poppins"/>
                <a:sym typeface="Poppins"/>
              </a:rPr>
              <a:t>Logic Summary</a:t>
            </a:r>
            <a:endParaRPr b="1" sz="1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3556876" y="4398495"/>
            <a:ext cx="5380200" cy="4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5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Valid feed entries are:</a:t>
            </a:r>
            <a:b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50">
              <a:solidFill>
                <a:srgbClr val="1111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Poppins"/>
              <a:buChar char="●"/>
            </a:pPr>
            <a: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appended into daily logs </a:t>
            </a:r>
            <a:b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50">
              <a:solidFill>
                <a:srgbClr val="11111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Poppins"/>
              <a:buChar char="●"/>
            </a:pPr>
            <a:r>
              <a:rPr lang="en-US" sz="165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summarized for reports.</a:t>
            </a:r>
            <a:endParaRPr sz="16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3"/>
          <p:cNvSpPr/>
          <p:nvPr/>
        </p:nvSpPr>
        <p:spPr>
          <a:xfrm>
            <a:off x="0" y="0"/>
            <a:ext cx="12191700" cy="987600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502920" y="246888"/>
            <a:ext cx="10058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Structured English : Update Log (II)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1265408" y="5980176"/>
            <a:ext cx="713100" cy="713100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11338560" y="6199632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09/18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1439525" y="1079675"/>
            <a:ext cx="8033100" cy="56487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2404925" y="1195625"/>
            <a:ext cx="7219800" cy="58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UPDATE Daily Operation Log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RECEIVE </a:t>
            </a:r>
            <a:r>
              <a:rPr b="1" lang="en-US" sz="1600" u="sng">
                <a:latin typeface="Courier New"/>
                <a:ea typeface="Courier New"/>
                <a:cs typeface="Courier New"/>
                <a:sym typeface="Courier New"/>
              </a:rPr>
              <a:t>Validated Feed Log</a:t>
            </a:r>
            <a:endParaRPr b="1" sz="16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READ </a:t>
            </a:r>
            <a:r>
              <a:rPr b="1" lang="en-US" sz="1600" u="sng">
                <a:latin typeface="Courier New"/>
                <a:ea typeface="Courier New"/>
                <a:cs typeface="Courier New"/>
                <a:sym typeface="Courier New"/>
              </a:rPr>
              <a:t>Current Operation Log</a:t>
            </a: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 for Feeding Date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b="1" lang="en-US" sz="1600" u="sng">
                <a:latin typeface="Courier New"/>
                <a:ea typeface="Courier New"/>
                <a:cs typeface="Courier New"/>
                <a:sym typeface="Courier New"/>
              </a:rPr>
              <a:t>Operation Log</a:t>
            </a: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 does not exist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    THEN create new </a:t>
            </a:r>
            <a:r>
              <a:rPr b="1" lang="en-US" sz="1600" u="sng">
                <a:latin typeface="Courier New"/>
                <a:ea typeface="Courier New"/>
                <a:cs typeface="Courier New"/>
                <a:sym typeface="Courier New"/>
              </a:rPr>
              <a:t>Daily Operation Record</a:t>
            </a:r>
            <a:endParaRPr b="1" sz="16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ENDIF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FOR EACH </a:t>
            </a:r>
            <a:r>
              <a:rPr b="1" lang="en-US" sz="1600" u="sng">
                <a:latin typeface="Courier New"/>
                <a:ea typeface="Courier New"/>
                <a:cs typeface="Courier New"/>
                <a:sym typeface="Courier New"/>
              </a:rPr>
              <a:t>Feed Usage Line</a:t>
            </a: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 in </a:t>
            </a:r>
            <a:r>
              <a:rPr b="1" lang="en-US" sz="1600" u="sng">
                <a:latin typeface="Courier New"/>
                <a:ea typeface="Courier New"/>
                <a:cs typeface="Courier New"/>
                <a:sym typeface="Courier New"/>
              </a:rPr>
              <a:t>Daily Feed Log Record</a:t>
            </a:r>
            <a:endParaRPr b="1" sz="16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    ADD feed usage entry to </a:t>
            </a:r>
            <a:r>
              <a:rPr b="1" lang="en-US" sz="1600" u="sng">
                <a:latin typeface="Courier New"/>
                <a:ea typeface="Courier New"/>
                <a:cs typeface="Courier New"/>
                <a:sym typeface="Courier New"/>
              </a:rPr>
              <a:t>Operation Log</a:t>
            </a:r>
            <a:endParaRPr b="1" sz="16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    LINK entry with Worker, Section, and Livestock Group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ENDFOR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CALCULATE total feed consumed for the day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STORE updated </a:t>
            </a:r>
            <a:r>
              <a:rPr b="1" lang="en-US" sz="1600" u="sng">
                <a:latin typeface="Courier New"/>
                <a:ea typeface="Courier New"/>
                <a:cs typeface="Courier New"/>
                <a:sym typeface="Courier New"/>
              </a:rPr>
              <a:t>Operation Log</a:t>
            </a:r>
            <a:endParaRPr b="1" sz="16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GENERATE </a:t>
            </a:r>
            <a:r>
              <a:rPr b="1" lang="en-US" sz="1600" u="sng">
                <a:latin typeface="Courier New"/>
                <a:ea typeface="Courier New"/>
                <a:cs typeface="Courier New"/>
                <a:sym typeface="Courier New"/>
              </a:rPr>
              <a:t>Operation Summary</a:t>
            </a:r>
            <a:endParaRPr b="1" sz="1600" u="sng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ourier New"/>
                <a:ea typeface="Courier New"/>
                <a:cs typeface="Courier New"/>
                <a:sym typeface="Courier New"/>
              </a:rPr>
              <a:t>END UPDATE Daily Operation Log</a:t>
            </a:r>
            <a:endParaRPr b="1"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/>
          <p:nvPr/>
        </p:nvSpPr>
        <p:spPr>
          <a:xfrm>
            <a:off x="0" y="0"/>
            <a:ext cx="12191700" cy="987600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502926" y="246900"/>
            <a:ext cx="11475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 Specification Form : </a:t>
            </a:r>
            <a:r>
              <a:rPr b="1" lang="en-US" sz="2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Validate Batch &amp; Quantity</a:t>
            </a: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(I)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11265408" y="5980176"/>
            <a:ext cx="713100" cy="713100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4"/>
          <p:cNvSpPr/>
          <p:nvPr/>
        </p:nvSpPr>
        <p:spPr>
          <a:xfrm>
            <a:off x="11338560" y="6199632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0/18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594360" y="11430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rPr lang="en-US" sz="2000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Process: Validate Batch &amp; Quantity</a:t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t/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3697200" y="1805500"/>
            <a:ext cx="4675800" cy="10302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4118059" y="2006618"/>
            <a:ext cx="383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Process No.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4118059" y="2299237"/>
            <a:ext cx="383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82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2.2</a:t>
            </a:r>
            <a:endParaRPr sz="182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502925" y="3390205"/>
            <a:ext cx="3655200" cy="1713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217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0450" lIns="130450" spcFirstLastPara="1" rIns="130450" wrap="square" tIns="13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737762" y="3703742"/>
            <a:ext cx="3575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5" lIns="875" spcFirstLastPara="1" rIns="875" wrap="square" tIns="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569"/>
              <a:buFont typeface="Trebuchet MS"/>
              <a:buNone/>
            </a:pPr>
            <a:r>
              <a:rPr b="1" lang="en-US" sz="19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Input</a:t>
            </a:r>
            <a:endParaRPr b="1"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737762" y="4215426"/>
            <a:ext cx="35751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875" lIns="875" spcFirstLastPara="1" rIns="875" wrap="square" tIns="875">
            <a:noAutofit/>
          </a:bodyPr>
          <a:lstStyle/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Poppins Medium"/>
              <a:buChar char="●"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Daily Feed Logs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Poppins Medium"/>
              <a:buChar char="●"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Required Feed Data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41"/>
              <a:buFont typeface="Trebuchet MS"/>
              <a:buNone/>
            </a:pPr>
            <a:r>
              <a:t/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5" name="Google Shape;265;p24"/>
          <p:cNvSpPr/>
          <p:nvPr/>
        </p:nvSpPr>
        <p:spPr>
          <a:xfrm>
            <a:off x="4368250" y="3390205"/>
            <a:ext cx="3834600" cy="1713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96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900" lIns="117900" spcFirstLastPara="1" rIns="117900" wrap="square" tIns="117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5"/>
          </a:p>
        </p:txBody>
      </p:sp>
      <p:sp>
        <p:nvSpPr>
          <p:cNvPr id="266" name="Google Shape;266;p24"/>
          <p:cNvSpPr/>
          <p:nvPr/>
        </p:nvSpPr>
        <p:spPr>
          <a:xfrm>
            <a:off x="4747693" y="3687994"/>
            <a:ext cx="3231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" lIns="800" spcFirstLastPara="1" rIns="800" wrap="square" tIns="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418"/>
              <a:buFont typeface="Trebuchet MS"/>
              <a:buNone/>
            </a:pPr>
            <a:r>
              <a:rPr b="1" lang="en-US" sz="1905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 b="1" sz="1905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4747693" y="4129341"/>
            <a:ext cx="32310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" lIns="800" spcFirstLastPara="1" rIns="800" wrap="square" tIns="800">
            <a:noAutofit/>
          </a:bodyPr>
          <a:lstStyle/>
          <a:p>
            <a:pPr indent="-33484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73"/>
              <a:buFont typeface="Poppins Medium"/>
              <a:buChar char="●"/>
            </a:pPr>
            <a:r>
              <a:rPr lang="en-US" sz="167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Validated Feed Log</a:t>
            </a:r>
            <a:endParaRPr sz="1673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484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73"/>
              <a:buFont typeface="Poppins Medium"/>
              <a:buChar char="●"/>
            </a:pPr>
            <a:r>
              <a:rPr lang="en-US" sz="167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Update Stock </a:t>
            </a:r>
            <a:endParaRPr sz="1673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484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73"/>
              <a:buFont typeface="Poppins Medium"/>
              <a:buChar char="●"/>
            </a:pPr>
            <a:r>
              <a:rPr lang="en-US" sz="167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Exception Notice</a:t>
            </a:r>
            <a:endParaRPr sz="1673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3"/>
              <a:buFont typeface="Trebuchet MS"/>
              <a:buNone/>
            </a:pPr>
            <a:r>
              <a:t/>
            </a:r>
            <a:endParaRPr sz="1673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8413550" y="3390125"/>
            <a:ext cx="3492000" cy="1713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206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850" lIns="123850" spcFirstLastPara="1" rIns="123850" wrap="square" tIns="123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8630310" y="3679284"/>
            <a:ext cx="3058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" lIns="850" spcFirstLastPara="1" rIns="850" wrap="square" tIns="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490"/>
              <a:buFont typeface="Trebuchet MS"/>
              <a:buNone/>
            </a:pPr>
            <a:r>
              <a:rPr b="1" lang="en-US" sz="1897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Data Stores</a:t>
            </a:r>
            <a:endParaRPr b="1" sz="1897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24"/>
          <p:cNvSpPr/>
          <p:nvPr/>
        </p:nvSpPr>
        <p:spPr>
          <a:xfrm>
            <a:off x="8630310" y="4103735"/>
            <a:ext cx="30588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" lIns="850" spcFirstLastPara="1" rIns="850" wrap="square" tIns="850">
            <a:noAutofit/>
          </a:bodyPr>
          <a:lstStyle/>
          <a:p>
            <a:pPr indent="-33354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3"/>
              <a:buFont typeface="Poppins Medium"/>
              <a:buChar char="●"/>
            </a:pPr>
            <a:r>
              <a:rPr lang="en-US" sz="165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D1 Farm Structure</a:t>
            </a:r>
            <a:endParaRPr sz="16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354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3"/>
              <a:buFont typeface="Poppins Medium"/>
              <a:buChar char="●"/>
            </a:pPr>
            <a:r>
              <a:rPr lang="en-US" sz="165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D3 Inventory Records</a:t>
            </a:r>
            <a:endParaRPr sz="16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5"/>
          <p:cNvSpPr/>
          <p:nvPr/>
        </p:nvSpPr>
        <p:spPr>
          <a:xfrm>
            <a:off x="0" y="0"/>
            <a:ext cx="12191700" cy="987600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502926" y="246900"/>
            <a:ext cx="11818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 Specification Form : </a:t>
            </a:r>
            <a:r>
              <a:rPr b="1" lang="en-US" sz="2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Validate Batch &amp; Quantity</a:t>
            </a:r>
            <a:r>
              <a:rPr b="1"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(II)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11265408" y="5980176"/>
            <a:ext cx="713100" cy="713100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11338560" y="6199632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11</a:t>
            </a: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/18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94360" y="11430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rPr lang="en-US" sz="2000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Process: Validate Batch &amp; Quantity</a:t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t/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t/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94350" y="2044338"/>
            <a:ext cx="3566100" cy="1476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82" name="Google Shape;282;p25"/>
          <p:cNvSpPr/>
          <p:nvPr/>
        </p:nvSpPr>
        <p:spPr>
          <a:xfrm>
            <a:off x="758942" y="2252722"/>
            <a:ext cx="3237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Trigger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758942" y="2762460"/>
            <a:ext cx="3237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Worker submits feed usage data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t/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4434825" y="2044454"/>
            <a:ext cx="3566100" cy="1476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85" name="Google Shape;285;p25"/>
          <p:cNvSpPr/>
          <p:nvPr/>
        </p:nvSpPr>
        <p:spPr>
          <a:xfrm>
            <a:off x="4599417" y="2252822"/>
            <a:ext cx="3237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Precondition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4599427" y="2762460"/>
            <a:ext cx="3237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Required fields are present in the feed log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t/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8275325" y="2044454"/>
            <a:ext cx="3291900" cy="1476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88" name="Google Shape;288;p25"/>
          <p:cNvSpPr/>
          <p:nvPr/>
        </p:nvSpPr>
        <p:spPr>
          <a:xfrm>
            <a:off x="8439917" y="2252822"/>
            <a:ext cx="2962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Postcondition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8439913" y="2762460"/>
            <a:ext cx="29628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Feed log is either accepted or returned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t/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192350" y="3840475"/>
            <a:ext cx="5829000" cy="2238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647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370670" y="4014128"/>
            <a:ext cx="5488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92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Business Rule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370675" y="4390375"/>
            <a:ext cx="5488500" cy="11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system accepts feed usage only when 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livestock group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feed batch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quantity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stock level 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are all valid.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6334475" y="3840475"/>
            <a:ext cx="5745900" cy="21396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647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7"/>
          </a:p>
        </p:txBody>
      </p:sp>
      <p:sp>
        <p:nvSpPr>
          <p:cNvPr id="294" name="Google Shape;294;p25"/>
          <p:cNvSpPr/>
          <p:nvPr/>
        </p:nvSpPr>
        <p:spPr>
          <a:xfrm>
            <a:off x="6512795" y="4521986"/>
            <a:ext cx="53889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2"/>
              <a:buFont typeface="Trebuchet MS"/>
              <a:buNone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Decision Table</a:t>
            </a:r>
            <a:b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Best for several interacting conditions and clear rule patterns.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2"/>
              <a:buFont typeface="Trebuchet MS"/>
              <a:buNone/>
            </a:pPr>
            <a:r>
              <a:t/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6512795" y="4055689"/>
            <a:ext cx="538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92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Technique Used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6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02920" y="246888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Decision Table : Validate Batch &amp; Quantity</a:t>
            </a:r>
            <a:endParaRPr b="1" sz="2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11265408" y="5980176"/>
            <a:ext cx="713232" cy="713232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11338560" y="61996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12</a:t>
            </a: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/18</a:t>
            </a:r>
            <a:endParaRPr sz="1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411480" y="1234440"/>
            <a:ext cx="3840480" cy="384048"/>
          </a:xfrm>
          <a:prstGeom prst="rect">
            <a:avLst/>
          </a:prstGeom>
          <a:solidFill>
            <a:srgbClr val="27998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448056" y="1316736"/>
            <a:ext cx="37673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lang="en-US" sz="18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Conditions / Actions</a:t>
            </a:r>
            <a:endParaRPr b="1" sz="18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4251960" y="1234440"/>
            <a:ext cx="1371600" cy="384048"/>
          </a:xfrm>
          <a:prstGeom prst="rect">
            <a:avLst/>
          </a:prstGeom>
          <a:solidFill>
            <a:srgbClr val="27998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4288536" y="1316736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lang="en-US" sz="18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R1</a:t>
            </a:r>
            <a:endParaRPr b="1" sz="18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5623560" y="1234440"/>
            <a:ext cx="1371600" cy="384048"/>
          </a:xfrm>
          <a:prstGeom prst="rect">
            <a:avLst/>
          </a:prstGeom>
          <a:solidFill>
            <a:srgbClr val="27998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5660136" y="1316736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lang="en-US" sz="18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R2</a:t>
            </a:r>
            <a:endParaRPr b="1" sz="18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6995160" y="1234440"/>
            <a:ext cx="1371600" cy="384048"/>
          </a:xfrm>
          <a:prstGeom prst="rect">
            <a:avLst/>
          </a:prstGeom>
          <a:solidFill>
            <a:srgbClr val="27998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7031736" y="1316736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lang="en-US" sz="18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R3</a:t>
            </a:r>
            <a:endParaRPr b="1" sz="18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8366760" y="1234440"/>
            <a:ext cx="1371600" cy="384048"/>
          </a:xfrm>
          <a:prstGeom prst="rect">
            <a:avLst/>
          </a:prstGeom>
          <a:solidFill>
            <a:srgbClr val="27998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8403336" y="1316736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lang="en-US" sz="18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R4</a:t>
            </a:r>
            <a:endParaRPr b="1" sz="18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9738360" y="1234440"/>
            <a:ext cx="1371600" cy="384048"/>
          </a:xfrm>
          <a:prstGeom prst="rect">
            <a:avLst/>
          </a:prstGeom>
          <a:solidFill>
            <a:srgbClr val="27998E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6" name="Google Shape;316;p26"/>
          <p:cNvSpPr/>
          <p:nvPr/>
        </p:nvSpPr>
        <p:spPr>
          <a:xfrm>
            <a:off x="9774936" y="1316736"/>
            <a:ext cx="12984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Trebuchet MS"/>
              <a:buNone/>
            </a:pPr>
            <a:r>
              <a:rPr b="1" lang="en-US" sz="185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R5</a:t>
            </a:r>
            <a:endParaRPr b="1" sz="18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7" name="Google Shape;317;p26"/>
          <p:cNvSpPr/>
          <p:nvPr/>
        </p:nvSpPr>
        <p:spPr>
          <a:xfrm>
            <a:off x="411480" y="1618488"/>
            <a:ext cx="384048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8" name="Google Shape;318;p26"/>
          <p:cNvSpPr/>
          <p:nvPr/>
        </p:nvSpPr>
        <p:spPr>
          <a:xfrm>
            <a:off x="448056" y="1705356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Livestock group valid?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19" name="Google Shape;319;p26"/>
          <p:cNvSpPr/>
          <p:nvPr/>
        </p:nvSpPr>
        <p:spPr>
          <a:xfrm>
            <a:off x="4251960" y="161848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4288536" y="17053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1" name="Google Shape;321;p26"/>
          <p:cNvSpPr/>
          <p:nvPr/>
        </p:nvSpPr>
        <p:spPr>
          <a:xfrm>
            <a:off x="5623560" y="161848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2" name="Google Shape;322;p26"/>
          <p:cNvSpPr/>
          <p:nvPr/>
        </p:nvSpPr>
        <p:spPr>
          <a:xfrm>
            <a:off x="5660136" y="17053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26"/>
          <p:cNvSpPr/>
          <p:nvPr/>
        </p:nvSpPr>
        <p:spPr>
          <a:xfrm>
            <a:off x="6995160" y="161848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4" name="Google Shape;324;p26"/>
          <p:cNvSpPr/>
          <p:nvPr/>
        </p:nvSpPr>
        <p:spPr>
          <a:xfrm>
            <a:off x="7031736" y="17053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5" name="Google Shape;325;p26"/>
          <p:cNvSpPr/>
          <p:nvPr/>
        </p:nvSpPr>
        <p:spPr>
          <a:xfrm>
            <a:off x="8366760" y="161848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26"/>
          <p:cNvSpPr/>
          <p:nvPr/>
        </p:nvSpPr>
        <p:spPr>
          <a:xfrm>
            <a:off x="8403336" y="17053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7" name="Google Shape;327;p26"/>
          <p:cNvSpPr/>
          <p:nvPr/>
        </p:nvSpPr>
        <p:spPr>
          <a:xfrm>
            <a:off x="9738360" y="161848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8" name="Google Shape;328;p26"/>
          <p:cNvSpPr/>
          <p:nvPr/>
        </p:nvSpPr>
        <p:spPr>
          <a:xfrm>
            <a:off x="9774936" y="170535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p26"/>
          <p:cNvSpPr/>
          <p:nvPr/>
        </p:nvSpPr>
        <p:spPr>
          <a:xfrm>
            <a:off x="411480" y="1975104"/>
            <a:ext cx="384048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0" name="Google Shape;330;p26"/>
          <p:cNvSpPr/>
          <p:nvPr/>
        </p:nvSpPr>
        <p:spPr>
          <a:xfrm>
            <a:off x="448056" y="2061972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Feed batch exists?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31" name="Google Shape;331;p26"/>
          <p:cNvSpPr/>
          <p:nvPr/>
        </p:nvSpPr>
        <p:spPr>
          <a:xfrm>
            <a:off x="4251960" y="197510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2" name="Google Shape;332;p26"/>
          <p:cNvSpPr/>
          <p:nvPr/>
        </p:nvSpPr>
        <p:spPr>
          <a:xfrm>
            <a:off x="4288536" y="206197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p26"/>
          <p:cNvSpPr/>
          <p:nvPr/>
        </p:nvSpPr>
        <p:spPr>
          <a:xfrm>
            <a:off x="5623560" y="197510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5660136" y="206197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5" name="Google Shape;335;p26"/>
          <p:cNvSpPr/>
          <p:nvPr/>
        </p:nvSpPr>
        <p:spPr>
          <a:xfrm>
            <a:off x="6995160" y="197510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6" name="Google Shape;336;p26"/>
          <p:cNvSpPr/>
          <p:nvPr/>
        </p:nvSpPr>
        <p:spPr>
          <a:xfrm>
            <a:off x="7031736" y="206197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7" name="Google Shape;337;p26"/>
          <p:cNvSpPr/>
          <p:nvPr/>
        </p:nvSpPr>
        <p:spPr>
          <a:xfrm>
            <a:off x="8366760" y="197510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8" name="Google Shape;338;p26"/>
          <p:cNvSpPr/>
          <p:nvPr/>
        </p:nvSpPr>
        <p:spPr>
          <a:xfrm>
            <a:off x="8403336" y="206197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9738360" y="197510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9774936" y="206197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411480" y="2331720"/>
            <a:ext cx="384048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2" name="Google Shape;342;p26"/>
          <p:cNvSpPr/>
          <p:nvPr/>
        </p:nvSpPr>
        <p:spPr>
          <a:xfrm>
            <a:off x="448056" y="2418588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Quantity greater than zero?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43" name="Google Shape;343;p26"/>
          <p:cNvSpPr/>
          <p:nvPr/>
        </p:nvSpPr>
        <p:spPr>
          <a:xfrm>
            <a:off x="4251960" y="233172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p26"/>
          <p:cNvSpPr/>
          <p:nvPr/>
        </p:nvSpPr>
        <p:spPr>
          <a:xfrm>
            <a:off x="4288536" y="241858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5623560" y="233172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5660136" y="241858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p26"/>
          <p:cNvSpPr/>
          <p:nvPr/>
        </p:nvSpPr>
        <p:spPr>
          <a:xfrm>
            <a:off x="6995160" y="233172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7031736" y="241858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8366760" y="233172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p26"/>
          <p:cNvSpPr/>
          <p:nvPr/>
        </p:nvSpPr>
        <p:spPr>
          <a:xfrm>
            <a:off x="8403336" y="241858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1" name="Google Shape;351;p26"/>
          <p:cNvSpPr/>
          <p:nvPr/>
        </p:nvSpPr>
        <p:spPr>
          <a:xfrm>
            <a:off x="9738360" y="233172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2" name="Google Shape;352;p26"/>
          <p:cNvSpPr/>
          <p:nvPr/>
        </p:nvSpPr>
        <p:spPr>
          <a:xfrm>
            <a:off x="9774936" y="241858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411480" y="2688336"/>
            <a:ext cx="384048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4" name="Google Shape;354;p26"/>
          <p:cNvSpPr/>
          <p:nvPr/>
        </p:nvSpPr>
        <p:spPr>
          <a:xfrm>
            <a:off x="448056" y="2775204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Stock sufficient?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55" name="Google Shape;355;p26"/>
          <p:cNvSpPr/>
          <p:nvPr/>
        </p:nvSpPr>
        <p:spPr>
          <a:xfrm>
            <a:off x="4251960" y="268833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6" name="Google Shape;356;p26"/>
          <p:cNvSpPr/>
          <p:nvPr/>
        </p:nvSpPr>
        <p:spPr>
          <a:xfrm>
            <a:off x="4288536" y="277520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5623560" y="268833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5660136" y="277520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6995160" y="268833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7031736" y="277520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–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8366760" y="268833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8403336" y="277520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9738360" y="268833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9774936" y="277520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411480" y="3044952"/>
            <a:ext cx="384048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448056" y="3131820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Reject: invalid livestock group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67" name="Google Shape;367;p26"/>
          <p:cNvSpPr/>
          <p:nvPr/>
        </p:nvSpPr>
        <p:spPr>
          <a:xfrm>
            <a:off x="4251960" y="304495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8" name="Google Shape;368;p26"/>
          <p:cNvSpPr/>
          <p:nvPr/>
        </p:nvSpPr>
        <p:spPr>
          <a:xfrm>
            <a:off x="4288536" y="313182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9" name="Google Shape;369;p26"/>
          <p:cNvSpPr/>
          <p:nvPr/>
        </p:nvSpPr>
        <p:spPr>
          <a:xfrm>
            <a:off x="5623560" y="304495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0" name="Google Shape;370;p26"/>
          <p:cNvSpPr/>
          <p:nvPr/>
        </p:nvSpPr>
        <p:spPr>
          <a:xfrm>
            <a:off x="5660136" y="313182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1" name="Google Shape;371;p26"/>
          <p:cNvSpPr/>
          <p:nvPr/>
        </p:nvSpPr>
        <p:spPr>
          <a:xfrm>
            <a:off x="6995160" y="304495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2" name="Google Shape;372;p26"/>
          <p:cNvSpPr/>
          <p:nvPr/>
        </p:nvSpPr>
        <p:spPr>
          <a:xfrm>
            <a:off x="7031736" y="313182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3" name="Google Shape;373;p26"/>
          <p:cNvSpPr/>
          <p:nvPr/>
        </p:nvSpPr>
        <p:spPr>
          <a:xfrm>
            <a:off x="8366760" y="304495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4" name="Google Shape;374;p26"/>
          <p:cNvSpPr/>
          <p:nvPr/>
        </p:nvSpPr>
        <p:spPr>
          <a:xfrm>
            <a:off x="8403336" y="313182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5" name="Google Shape;375;p26"/>
          <p:cNvSpPr/>
          <p:nvPr/>
        </p:nvSpPr>
        <p:spPr>
          <a:xfrm>
            <a:off x="9738360" y="304495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6" name="Google Shape;376;p26"/>
          <p:cNvSpPr/>
          <p:nvPr/>
        </p:nvSpPr>
        <p:spPr>
          <a:xfrm>
            <a:off x="9774936" y="313182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7" name="Google Shape;377;p26"/>
          <p:cNvSpPr/>
          <p:nvPr/>
        </p:nvSpPr>
        <p:spPr>
          <a:xfrm>
            <a:off x="411480" y="3401568"/>
            <a:ext cx="384048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448056" y="3488436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Reject: unknown feed batch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4251960" y="340156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4288536" y="348843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5623560" y="340156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5660136" y="348843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6995160" y="340156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7031736" y="348843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8366760" y="340156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8403336" y="348843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9738360" y="3401568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9774936" y="3488436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411480" y="3758184"/>
            <a:ext cx="384048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0" name="Google Shape;390;p26"/>
          <p:cNvSpPr/>
          <p:nvPr/>
        </p:nvSpPr>
        <p:spPr>
          <a:xfrm>
            <a:off x="448056" y="3845052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Return for quantity correction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91" name="Google Shape;391;p26"/>
          <p:cNvSpPr/>
          <p:nvPr/>
        </p:nvSpPr>
        <p:spPr>
          <a:xfrm>
            <a:off x="4251960" y="375818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2" name="Google Shape;392;p26"/>
          <p:cNvSpPr/>
          <p:nvPr/>
        </p:nvSpPr>
        <p:spPr>
          <a:xfrm>
            <a:off x="4288536" y="384505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5623560" y="375818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5660136" y="384505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5" name="Google Shape;395;p26"/>
          <p:cNvSpPr/>
          <p:nvPr/>
        </p:nvSpPr>
        <p:spPr>
          <a:xfrm>
            <a:off x="6995160" y="375818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7031736" y="384505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7" name="Google Shape;397;p26"/>
          <p:cNvSpPr/>
          <p:nvPr/>
        </p:nvSpPr>
        <p:spPr>
          <a:xfrm>
            <a:off x="8366760" y="375818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8403336" y="384505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99" name="Google Shape;399;p26"/>
          <p:cNvSpPr/>
          <p:nvPr/>
        </p:nvSpPr>
        <p:spPr>
          <a:xfrm>
            <a:off x="9738360" y="3758184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9774936" y="3845052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1" name="Google Shape;401;p26"/>
          <p:cNvSpPr/>
          <p:nvPr/>
        </p:nvSpPr>
        <p:spPr>
          <a:xfrm>
            <a:off x="411480" y="4114800"/>
            <a:ext cx="384048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2" name="Google Shape;402;p26"/>
          <p:cNvSpPr/>
          <p:nvPr/>
        </p:nvSpPr>
        <p:spPr>
          <a:xfrm>
            <a:off x="448056" y="4201668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Hold log + create stock exception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03" name="Google Shape;403;p26"/>
          <p:cNvSpPr/>
          <p:nvPr/>
        </p:nvSpPr>
        <p:spPr>
          <a:xfrm>
            <a:off x="4251960" y="411480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4" name="Google Shape;404;p26"/>
          <p:cNvSpPr/>
          <p:nvPr/>
        </p:nvSpPr>
        <p:spPr>
          <a:xfrm>
            <a:off x="4288536" y="42016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p26"/>
          <p:cNvSpPr/>
          <p:nvPr/>
        </p:nvSpPr>
        <p:spPr>
          <a:xfrm>
            <a:off x="5623560" y="411480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6" name="Google Shape;406;p26"/>
          <p:cNvSpPr/>
          <p:nvPr/>
        </p:nvSpPr>
        <p:spPr>
          <a:xfrm>
            <a:off x="5660136" y="42016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7" name="Google Shape;407;p26"/>
          <p:cNvSpPr/>
          <p:nvPr/>
        </p:nvSpPr>
        <p:spPr>
          <a:xfrm>
            <a:off x="6995160" y="411480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8" name="Google Shape;408;p26"/>
          <p:cNvSpPr/>
          <p:nvPr/>
        </p:nvSpPr>
        <p:spPr>
          <a:xfrm>
            <a:off x="7031736" y="42016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9" name="Google Shape;409;p26"/>
          <p:cNvSpPr/>
          <p:nvPr/>
        </p:nvSpPr>
        <p:spPr>
          <a:xfrm>
            <a:off x="8366760" y="411480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0" name="Google Shape;410;p26"/>
          <p:cNvSpPr/>
          <p:nvPr/>
        </p:nvSpPr>
        <p:spPr>
          <a:xfrm>
            <a:off x="8403336" y="42016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1" name="Google Shape;411;p26"/>
          <p:cNvSpPr/>
          <p:nvPr/>
        </p:nvSpPr>
        <p:spPr>
          <a:xfrm>
            <a:off x="9738360" y="4114800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2" name="Google Shape;412;p26"/>
          <p:cNvSpPr/>
          <p:nvPr/>
        </p:nvSpPr>
        <p:spPr>
          <a:xfrm>
            <a:off x="9774936" y="4201668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3" name="Google Shape;413;p26"/>
          <p:cNvSpPr/>
          <p:nvPr/>
        </p:nvSpPr>
        <p:spPr>
          <a:xfrm>
            <a:off x="411480" y="4471416"/>
            <a:ext cx="384048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4" name="Google Shape;414;p26"/>
          <p:cNvSpPr/>
          <p:nvPr/>
        </p:nvSpPr>
        <p:spPr>
          <a:xfrm>
            <a:off x="448056" y="4558284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Accept validated feed log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15" name="Google Shape;415;p26"/>
          <p:cNvSpPr/>
          <p:nvPr/>
        </p:nvSpPr>
        <p:spPr>
          <a:xfrm>
            <a:off x="4251960" y="447141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6" name="Google Shape;416;p26"/>
          <p:cNvSpPr/>
          <p:nvPr/>
        </p:nvSpPr>
        <p:spPr>
          <a:xfrm>
            <a:off x="4288536" y="455828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7" name="Google Shape;417;p26"/>
          <p:cNvSpPr/>
          <p:nvPr/>
        </p:nvSpPr>
        <p:spPr>
          <a:xfrm>
            <a:off x="5623560" y="447141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8" name="Google Shape;418;p26"/>
          <p:cNvSpPr/>
          <p:nvPr/>
        </p:nvSpPr>
        <p:spPr>
          <a:xfrm>
            <a:off x="5660136" y="455828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9" name="Google Shape;419;p26"/>
          <p:cNvSpPr/>
          <p:nvPr/>
        </p:nvSpPr>
        <p:spPr>
          <a:xfrm>
            <a:off x="6995160" y="447141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0" name="Google Shape;420;p26"/>
          <p:cNvSpPr/>
          <p:nvPr/>
        </p:nvSpPr>
        <p:spPr>
          <a:xfrm>
            <a:off x="7031736" y="455828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1" name="Google Shape;421;p26"/>
          <p:cNvSpPr/>
          <p:nvPr/>
        </p:nvSpPr>
        <p:spPr>
          <a:xfrm>
            <a:off x="8366760" y="447141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2" name="Google Shape;422;p26"/>
          <p:cNvSpPr/>
          <p:nvPr/>
        </p:nvSpPr>
        <p:spPr>
          <a:xfrm>
            <a:off x="8403336" y="455828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3" name="Google Shape;423;p26"/>
          <p:cNvSpPr/>
          <p:nvPr/>
        </p:nvSpPr>
        <p:spPr>
          <a:xfrm>
            <a:off x="9738360" y="4471416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4" name="Google Shape;424;p26"/>
          <p:cNvSpPr/>
          <p:nvPr/>
        </p:nvSpPr>
        <p:spPr>
          <a:xfrm>
            <a:off x="9774936" y="4558284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5" name="Google Shape;425;p26"/>
          <p:cNvSpPr/>
          <p:nvPr/>
        </p:nvSpPr>
        <p:spPr>
          <a:xfrm>
            <a:off x="411480" y="4828032"/>
            <a:ext cx="3840600" cy="356700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6" name="Google Shape;426;p26"/>
          <p:cNvSpPr/>
          <p:nvPr/>
        </p:nvSpPr>
        <p:spPr>
          <a:xfrm>
            <a:off x="448056" y="4914900"/>
            <a:ext cx="376732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Update inventory record</a:t>
            </a:r>
            <a:endParaRPr sz="146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427" name="Google Shape;427;p26"/>
          <p:cNvSpPr/>
          <p:nvPr/>
        </p:nvSpPr>
        <p:spPr>
          <a:xfrm>
            <a:off x="4251960" y="482803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8" name="Google Shape;428;p26"/>
          <p:cNvSpPr/>
          <p:nvPr/>
        </p:nvSpPr>
        <p:spPr>
          <a:xfrm>
            <a:off x="4288536" y="491490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5623560" y="482803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5660136" y="491490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6995160" y="482803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7031736" y="491490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8366760" y="482803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8403336" y="491490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"/>
              <a:buFont typeface="Trebuchet MS"/>
              <a:buNone/>
            </a:pPr>
            <a:r>
              <a:t/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9738360" y="4828032"/>
            <a:ext cx="1371600" cy="356616"/>
          </a:xfrm>
          <a:prstGeom prst="rect">
            <a:avLst/>
          </a:prstGeom>
          <a:solidFill>
            <a:srgbClr val="DCEFEA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9774936" y="4914900"/>
            <a:ext cx="129844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960"/>
              <a:buFont typeface="Trebuchet MS"/>
              <a:buNone/>
            </a:pPr>
            <a:r>
              <a:rPr lang="en-US" sz="146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X</a:t>
            </a:r>
            <a:endParaRPr sz="146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502925" y="5394948"/>
            <a:ext cx="10607100" cy="7131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749808" y="5605272"/>
            <a:ext cx="10058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250"/>
              <a:buFont typeface="Trebuchet MS"/>
              <a:buNone/>
            </a:pPr>
            <a:r>
              <a:rPr b="1" lang="en-US" sz="1350">
                <a:solidFill>
                  <a:srgbClr val="17224D"/>
                </a:solidFill>
                <a:latin typeface="Poppins"/>
                <a:ea typeface="Poppins"/>
                <a:cs typeface="Poppins"/>
                <a:sym typeface="Poppins"/>
              </a:rPr>
              <a:t>Simplification: “–” means do not care. Invalid prerequisite rules stop early, so redundant combinations are merged.</a:t>
            </a:r>
            <a:endParaRPr b="1" sz="13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7"/>
          <p:cNvSpPr/>
          <p:nvPr/>
        </p:nvSpPr>
        <p:spPr>
          <a:xfrm>
            <a:off x="0" y="0"/>
            <a:ext cx="12191700" cy="987600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7"/>
          <p:cNvSpPr/>
          <p:nvPr/>
        </p:nvSpPr>
        <p:spPr>
          <a:xfrm>
            <a:off x="11265408" y="5980176"/>
            <a:ext cx="713100" cy="713100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7"/>
          <p:cNvSpPr/>
          <p:nvPr/>
        </p:nvSpPr>
        <p:spPr>
          <a:xfrm>
            <a:off x="11338560" y="6199632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13</a:t>
            </a: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/18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594360" y="11430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rPr lang="en-US" sz="2000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Process: Process Sales &amp; Availability</a:t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t/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48" name="Google Shape;448;p27"/>
          <p:cNvSpPr/>
          <p:nvPr/>
        </p:nvSpPr>
        <p:spPr>
          <a:xfrm>
            <a:off x="3697200" y="1805500"/>
            <a:ext cx="4675800" cy="10302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7"/>
          <p:cNvSpPr/>
          <p:nvPr/>
        </p:nvSpPr>
        <p:spPr>
          <a:xfrm>
            <a:off x="4118059" y="2006618"/>
            <a:ext cx="3834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Process No.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0" name="Google Shape;450;p27"/>
          <p:cNvSpPr/>
          <p:nvPr/>
        </p:nvSpPr>
        <p:spPr>
          <a:xfrm>
            <a:off x="4118059" y="2299237"/>
            <a:ext cx="3834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82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</a:t>
            </a:r>
            <a:endParaRPr sz="182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502925" y="3390205"/>
            <a:ext cx="3655200" cy="1713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217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30450" lIns="130450" spcFirstLastPara="1" rIns="130450" wrap="square" tIns="130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27"/>
          <p:cNvSpPr/>
          <p:nvPr/>
        </p:nvSpPr>
        <p:spPr>
          <a:xfrm>
            <a:off x="737762" y="3703742"/>
            <a:ext cx="35751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5" lIns="875" spcFirstLastPara="1" rIns="875" wrap="square" tIns="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569"/>
              <a:buFont typeface="Trebuchet MS"/>
              <a:buNone/>
            </a:pPr>
            <a:r>
              <a:rPr b="1" lang="en-US" sz="19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Input</a:t>
            </a:r>
            <a:endParaRPr b="1"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" name="Google Shape;453;p27"/>
          <p:cNvSpPr/>
          <p:nvPr/>
        </p:nvSpPr>
        <p:spPr>
          <a:xfrm>
            <a:off x="737762" y="4215426"/>
            <a:ext cx="35751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875" lIns="875" spcFirstLastPara="1" rIns="875" wrap="square" tIns="875">
            <a:noAutofit/>
          </a:bodyPr>
          <a:lstStyle/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Poppins Medium"/>
              <a:buChar char="●"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Product Orders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33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0"/>
              <a:buFont typeface="Poppins Medium"/>
              <a:buChar char="●"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Inventory Data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741"/>
              <a:buFont typeface="Trebuchet MS"/>
              <a:buNone/>
            </a:pPr>
            <a:r>
              <a:t/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4368250" y="3390205"/>
            <a:ext cx="3834600" cy="1713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96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17900" lIns="117900" spcFirstLastPara="1" rIns="117900" wrap="square" tIns="117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5"/>
          </a:p>
        </p:txBody>
      </p:sp>
      <p:sp>
        <p:nvSpPr>
          <p:cNvPr id="455" name="Google Shape;455;p27"/>
          <p:cNvSpPr/>
          <p:nvPr/>
        </p:nvSpPr>
        <p:spPr>
          <a:xfrm>
            <a:off x="4747693" y="3687994"/>
            <a:ext cx="3231000" cy="342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" lIns="800" spcFirstLastPara="1" rIns="800" wrap="square" tIns="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418"/>
              <a:buFont typeface="Trebuchet MS"/>
              <a:buNone/>
            </a:pPr>
            <a:r>
              <a:rPr b="1" lang="en-US" sz="1905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Output</a:t>
            </a:r>
            <a:endParaRPr b="1" sz="1905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6" name="Google Shape;456;p27"/>
          <p:cNvSpPr/>
          <p:nvPr/>
        </p:nvSpPr>
        <p:spPr>
          <a:xfrm>
            <a:off x="4747693" y="4129341"/>
            <a:ext cx="32310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" lIns="800" spcFirstLastPara="1" rIns="800" wrap="square" tIns="800">
            <a:noAutofit/>
          </a:bodyPr>
          <a:lstStyle/>
          <a:p>
            <a:pPr indent="-33484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73"/>
              <a:buFont typeface="Poppins Medium"/>
              <a:buChar char="●"/>
            </a:pPr>
            <a:r>
              <a:rPr lang="en-US" sz="167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Availability</a:t>
            </a:r>
            <a:endParaRPr sz="1673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484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73"/>
              <a:buFont typeface="Poppins Medium"/>
              <a:buChar char="●"/>
            </a:pPr>
            <a:r>
              <a:rPr lang="en-US" sz="167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Order </a:t>
            </a:r>
            <a:r>
              <a:rPr lang="en-US" sz="167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Confirmation / Rejection</a:t>
            </a:r>
            <a:endParaRPr sz="1673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73"/>
              <a:buFont typeface="Trebuchet MS"/>
              <a:buNone/>
            </a:pPr>
            <a:r>
              <a:t/>
            </a:r>
            <a:endParaRPr sz="1673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57" name="Google Shape;457;p27"/>
          <p:cNvSpPr/>
          <p:nvPr/>
        </p:nvSpPr>
        <p:spPr>
          <a:xfrm>
            <a:off x="8413550" y="3390125"/>
            <a:ext cx="3492000" cy="1713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206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3850" lIns="123850" spcFirstLastPara="1" rIns="123850" wrap="square" tIns="123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7"/>
          <p:cNvSpPr/>
          <p:nvPr/>
        </p:nvSpPr>
        <p:spPr>
          <a:xfrm>
            <a:off x="8630310" y="3679284"/>
            <a:ext cx="3058800" cy="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" lIns="850" spcFirstLastPara="1" rIns="850" wrap="square" tIns="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490"/>
              <a:buFont typeface="Trebuchet MS"/>
              <a:buNone/>
            </a:pPr>
            <a:r>
              <a:rPr b="1" lang="en-US" sz="1897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Data Stores</a:t>
            </a:r>
            <a:endParaRPr b="1" sz="1897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9" name="Google Shape;459;p27"/>
          <p:cNvSpPr/>
          <p:nvPr/>
        </p:nvSpPr>
        <p:spPr>
          <a:xfrm>
            <a:off x="8630310" y="4103735"/>
            <a:ext cx="30588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850" lIns="850" spcFirstLastPara="1" rIns="850" wrap="square" tIns="850">
            <a:noAutofit/>
          </a:bodyPr>
          <a:lstStyle/>
          <a:p>
            <a:pPr indent="-33354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3"/>
              <a:buFont typeface="Poppins Medium"/>
              <a:buChar char="●"/>
            </a:pPr>
            <a:r>
              <a:rPr lang="en-US" sz="165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D5 Sales Orders</a:t>
            </a:r>
            <a:endParaRPr sz="1653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354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53"/>
              <a:buFont typeface="Poppins Medium"/>
              <a:buChar char="●"/>
            </a:pPr>
            <a:r>
              <a:rPr lang="en-US" sz="1653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D3 Inventory Records</a:t>
            </a:r>
            <a:endParaRPr sz="1653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60" name="Google Shape;460;p27"/>
          <p:cNvSpPr/>
          <p:nvPr/>
        </p:nvSpPr>
        <p:spPr>
          <a:xfrm>
            <a:off x="502926" y="246900"/>
            <a:ext cx="1179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 Specification Form : </a:t>
            </a:r>
            <a:r>
              <a:rPr b="1"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Process Sales &amp; Availability (I)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"/>
          <p:cNvSpPr/>
          <p:nvPr/>
        </p:nvSpPr>
        <p:spPr>
          <a:xfrm>
            <a:off x="0" y="0"/>
            <a:ext cx="12191700" cy="987600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8"/>
          <p:cNvSpPr/>
          <p:nvPr/>
        </p:nvSpPr>
        <p:spPr>
          <a:xfrm>
            <a:off x="502926" y="246900"/>
            <a:ext cx="11792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Process Specification Form : </a:t>
            </a:r>
            <a:r>
              <a:rPr b="1"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Process Sales &amp; Availability</a:t>
            </a:r>
            <a:r>
              <a:rPr b="1" lang="en-US" sz="28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(II)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p28"/>
          <p:cNvSpPr/>
          <p:nvPr/>
        </p:nvSpPr>
        <p:spPr>
          <a:xfrm>
            <a:off x="11265408" y="5980176"/>
            <a:ext cx="713100" cy="713100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28"/>
          <p:cNvSpPr/>
          <p:nvPr/>
        </p:nvSpPr>
        <p:spPr>
          <a:xfrm>
            <a:off x="11338560" y="6199632"/>
            <a:ext cx="567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14/18</a:t>
            </a:r>
            <a:endParaRPr b="1" sz="1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594360" y="114300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rPr lang="en-US" sz="2000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Process: Process Sales &amp; Availability</a:t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t/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2000"/>
              <a:buFont typeface="Trebuchet MS"/>
              <a:buNone/>
            </a:pPr>
            <a:r>
              <a:t/>
            </a:r>
            <a:endParaRPr sz="2000">
              <a:solidFill>
                <a:srgbClr val="17224D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594350" y="2044338"/>
            <a:ext cx="3566100" cy="1476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72" name="Google Shape;472;p28"/>
          <p:cNvSpPr/>
          <p:nvPr/>
        </p:nvSpPr>
        <p:spPr>
          <a:xfrm>
            <a:off x="758942" y="2252722"/>
            <a:ext cx="3237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Trigger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3" name="Google Shape;473;p28"/>
          <p:cNvSpPr/>
          <p:nvPr/>
        </p:nvSpPr>
        <p:spPr>
          <a:xfrm>
            <a:off x="758942" y="2762460"/>
            <a:ext cx="3237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Buyer submits product order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t/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4434825" y="2044454"/>
            <a:ext cx="3566100" cy="1476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75" name="Google Shape;475;p28"/>
          <p:cNvSpPr/>
          <p:nvPr/>
        </p:nvSpPr>
        <p:spPr>
          <a:xfrm>
            <a:off x="4599417" y="2252822"/>
            <a:ext cx="3237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Precondition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6" name="Google Shape;476;p28"/>
          <p:cNvSpPr/>
          <p:nvPr/>
        </p:nvSpPr>
        <p:spPr>
          <a:xfrm>
            <a:off x="4599427" y="2762460"/>
            <a:ext cx="32370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Buyer details and product items are available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t/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77" name="Google Shape;477;p28"/>
          <p:cNvSpPr/>
          <p:nvPr/>
        </p:nvSpPr>
        <p:spPr>
          <a:xfrm>
            <a:off x="8275325" y="2044454"/>
            <a:ext cx="3291900" cy="1476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478" name="Google Shape;478;p28"/>
          <p:cNvSpPr/>
          <p:nvPr/>
        </p:nvSpPr>
        <p:spPr>
          <a:xfrm>
            <a:off x="8439917" y="2252822"/>
            <a:ext cx="29628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00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Postcondition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8439913" y="2762460"/>
            <a:ext cx="29628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rPr lang="en-US" sz="1650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Order is confirmed, partial, or rejected</a:t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20"/>
              <a:buFont typeface="Trebuchet MS"/>
              <a:buNone/>
            </a:pPr>
            <a:r>
              <a:t/>
            </a:r>
            <a:endParaRPr sz="1650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80" name="Google Shape;480;p28"/>
          <p:cNvSpPr/>
          <p:nvPr/>
        </p:nvSpPr>
        <p:spPr>
          <a:xfrm>
            <a:off x="192350" y="3840475"/>
            <a:ext cx="5829000" cy="22389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647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28"/>
          <p:cNvSpPr/>
          <p:nvPr/>
        </p:nvSpPr>
        <p:spPr>
          <a:xfrm>
            <a:off x="370670" y="4014128"/>
            <a:ext cx="5488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92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Business Rule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p28"/>
          <p:cNvSpPr/>
          <p:nvPr/>
        </p:nvSpPr>
        <p:spPr>
          <a:xfrm>
            <a:off x="370675" y="4390375"/>
            <a:ext cx="5488500" cy="11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Availability must be checked before confirming sales. 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system may confirm, offer partial fulfillment, or reject.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83" name="Google Shape;483;p28"/>
          <p:cNvSpPr/>
          <p:nvPr/>
        </p:nvSpPr>
        <p:spPr>
          <a:xfrm>
            <a:off x="6334475" y="3840475"/>
            <a:ext cx="5745900" cy="21396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647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050" lIns="99050" spcFirstLastPara="1" rIns="99050" wrap="square" tIns="9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17"/>
          </a:p>
        </p:txBody>
      </p:sp>
      <p:sp>
        <p:nvSpPr>
          <p:cNvPr id="484" name="Google Shape;484;p28"/>
          <p:cNvSpPr/>
          <p:nvPr/>
        </p:nvSpPr>
        <p:spPr>
          <a:xfrm>
            <a:off x="6512795" y="4521986"/>
            <a:ext cx="53889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2"/>
              <a:buFont typeface="Trebuchet MS"/>
              <a:buNone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Decision Tree</a:t>
            </a:r>
            <a:b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331581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22"/>
              <a:buFont typeface="Poppins Medium"/>
              <a:buChar char="●"/>
            </a:pPr>
            <a:r>
              <a:rPr lang="en-US" sz="1622">
                <a:solidFill>
                  <a:srgbClr val="11111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Best for ordered decisions with different branch lengths.</a:t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22"/>
              <a:buFont typeface="Trebuchet MS"/>
              <a:buNone/>
            </a:pPr>
            <a:r>
              <a:t/>
            </a:r>
            <a:endParaRPr sz="1622">
              <a:solidFill>
                <a:srgbClr val="11111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485" name="Google Shape;485;p28"/>
          <p:cNvSpPr/>
          <p:nvPr/>
        </p:nvSpPr>
        <p:spPr>
          <a:xfrm>
            <a:off x="6512795" y="4055689"/>
            <a:ext cx="5388900" cy="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675" lIns="675" spcFirstLastPara="1" rIns="675" wrap="square" tIns="6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192"/>
              <a:buFont typeface="Trebuchet MS"/>
              <a:buNone/>
            </a:pPr>
            <a:r>
              <a:rPr b="1" lang="en-US" sz="200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Technique Used</a:t>
            </a:r>
            <a:endParaRPr b="1" sz="20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9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29"/>
          <p:cNvSpPr/>
          <p:nvPr/>
        </p:nvSpPr>
        <p:spPr>
          <a:xfrm>
            <a:off x="502920" y="246888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Decision Tree : Process Sales &amp; Availability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3" name="Google Shape;493;p29"/>
          <p:cNvSpPr/>
          <p:nvPr/>
        </p:nvSpPr>
        <p:spPr>
          <a:xfrm>
            <a:off x="11265408" y="5980176"/>
            <a:ext cx="713232" cy="713232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9"/>
          <p:cNvSpPr/>
          <p:nvPr/>
        </p:nvSpPr>
        <p:spPr>
          <a:xfrm>
            <a:off x="11338560" y="61996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15/18</a:t>
            </a:r>
            <a:endParaRPr sz="1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cxnSp>
        <p:nvCxnSpPr>
          <p:cNvPr id="495" name="Google Shape;495;p29"/>
          <p:cNvCxnSpPr/>
          <p:nvPr/>
        </p:nvCxnSpPr>
        <p:spPr>
          <a:xfrm>
            <a:off x="2104186" y="3078196"/>
            <a:ext cx="1914000" cy="0"/>
          </a:xfrm>
          <a:prstGeom prst="straightConnector1">
            <a:avLst/>
          </a:prstGeom>
          <a:noFill/>
          <a:ln cap="flat" cmpd="sng" w="16775">
            <a:solidFill>
              <a:srgbClr val="2799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6" name="Google Shape;496;p29"/>
          <p:cNvSpPr/>
          <p:nvPr/>
        </p:nvSpPr>
        <p:spPr>
          <a:xfrm>
            <a:off x="2960543" y="2826327"/>
            <a:ext cx="55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047"/>
              <a:buFont typeface="Trebuchet MS"/>
              <a:buNone/>
            </a:pPr>
            <a:r>
              <a:rPr lang="en-US" sz="1267">
                <a:solidFill>
                  <a:srgbClr val="1D7C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Yes</a:t>
            </a:r>
            <a:endParaRPr sz="1267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497" name="Google Shape;497;p29"/>
          <p:cNvCxnSpPr/>
          <p:nvPr/>
        </p:nvCxnSpPr>
        <p:spPr>
          <a:xfrm>
            <a:off x="2104186" y="3078196"/>
            <a:ext cx="1914000" cy="2065200"/>
          </a:xfrm>
          <a:prstGeom prst="straightConnector1">
            <a:avLst/>
          </a:prstGeom>
          <a:noFill/>
          <a:ln cap="flat" cmpd="sng" w="16775">
            <a:solidFill>
              <a:srgbClr val="2799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8" name="Google Shape;498;p29"/>
          <p:cNvSpPr/>
          <p:nvPr/>
        </p:nvSpPr>
        <p:spPr>
          <a:xfrm rot="2881736">
            <a:off x="2990759" y="3984993"/>
            <a:ext cx="554014" cy="221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047"/>
              <a:buFont typeface="Trebuchet MS"/>
              <a:buNone/>
            </a:pPr>
            <a:r>
              <a:rPr lang="en-US" sz="1267">
                <a:solidFill>
                  <a:srgbClr val="1D7C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</a:t>
            </a:r>
            <a:endParaRPr sz="1267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499" name="Google Shape;499;p29"/>
          <p:cNvCxnSpPr/>
          <p:nvPr/>
        </p:nvCxnSpPr>
        <p:spPr>
          <a:xfrm>
            <a:off x="5227372" y="3078196"/>
            <a:ext cx="1712700" cy="0"/>
          </a:xfrm>
          <a:prstGeom prst="straightConnector1">
            <a:avLst/>
          </a:prstGeom>
          <a:noFill/>
          <a:ln cap="flat" cmpd="sng" w="16775">
            <a:solidFill>
              <a:srgbClr val="2799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0" name="Google Shape;500;p29"/>
          <p:cNvSpPr/>
          <p:nvPr/>
        </p:nvSpPr>
        <p:spPr>
          <a:xfrm>
            <a:off x="5932607" y="2826327"/>
            <a:ext cx="5541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047"/>
              <a:buFont typeface="Trebuchet MS"/>
              <a:buNone/>
            </a:pPr>
            <a:r>
              <a:rPr lang="en-US" sz="1267">
                <a:solidFill>
                  <a:srgbClr val="1D7C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Yes</a:t>
            </a:r>
            <a:endParaRPr sz="1267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501" name="Google Shape;501;p29"/>
          <p:cNvCxnSpPr/>
          <p:nvPr/>
        </p:nvCxnSpPr>
        <p:spPr>
          <a:xfrm>
            <a:off x="5227372" y="3078196"/>
            <a:ext cx="1712700" cy="2065200"/>
          </a:xfrm>
          <a:prstGeom prst="straightConnector1">
            <a:avLst/>
          </a:prstGeom>
          <a:noFill/>
          <a:ln cap="flat" cmpd="sng" w="16775">
            <a:solidFill>
              <a:srgbClr val="2799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2" name="Google Shape;502;p29"/>
          <p:cNvSpPr/>
          <p:nvPr/>
        </p:nvSpPr>
        <p:spPr>
          <a:xfrm rot="2480084">
            <a:off x="5932508" y="4015215"/>
            <a:ext cx="554162" cy="2217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047"/>
              <a:buFont typeface="Trebuchet MS"/>
              <a:buNone/>
            </a:pPr>
            <a:r>
              <a:rPr lang="en-US" sz="1267">
                <a:solidFill>
                  <a:srgbClr val="1D7C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</a:t>
            </a:r>
            <a:endParaRPr sz="1267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503" name="Google Shape;503;p29"/>
          <p:cNvCxnSpPr/>
          <p:nvPr/>
        </p:nvCxnSpPr>
        <p:spPr>
          <a:xfrm flipH="1" rot="10800000">
            <a:off x="8098688" y="2423296"/>
            <a:ext cx="1611900" cy="654900"/>
          </a:xfrm>
          <a:prstGeom prst="straightConnector1">
            <a:avLst/>
          </a:prstGeom>
          <a:noFill/>
          <a:ln cap="flat" cmpd="sng" w="16775">
            <a:solidFill>
              <a:srgbClr val="2799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4" name="Google Shape;504;p29"/>
          <p:cNvSpPr/>
          <p:nvPr/>
        </p:nvSpPr>
        <p:spPr>
          <a:xfrm rot="-1170841">
            <a:off x="8703226" y="2509501"/>
            <a:ext cx="554129" cy="2215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047"/>
              <a:buFont typeface="Trebuchet MS"/>
              <a:buNone/>
            </a:pPr>
            <a:r>
              <a:rPr lang="en-US" sz="1267">
                <a:solidFill>
                  <a:srgbClr val="1D7C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Yes</a:t>
            </a:r>
            <a:endParaRPr sz="1267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505" name="Google Shape;505;p29"/>
          <p:cNvCxnSpPr/>
          <p:nvPr/>
        </p:nvCxnSpPr>
        <p:spPr>
          <a:xfrm>
            <a:off x="8098688" y="3078196"/>
            <a:ext cx="1611900" cy="654900"/>
          </a:xfrm>
          <a:prstGeom prst="straightConnector1">
            <a:avLst/>
          </a:prstGeom>
          <a:noFill/>
          <a:ln cap="flat" cmpd="sng" w="16775">
            <a:solidFill>
              <a:srgbClr val="2799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6" name="Google Shape;506;p29"/>
          <p:cNvSpPr/>
          <p:nvPr/>
        </p:nvSpPr>
        <p:spPr>
          <a:xfrm rot="998163">
            <a:off x="8723248" y="3279663"/>
            <a:ext cx="755524" cy="221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047"/>
              <a:buFont typeface="Trebuchet MS"/>
              <a:buNone/>
            </a:pPr>
            <a:r>
              <a:rPr lang="en-US" sz="1267">
                <a:solidFill>
                  <a:srgbClr val="1D7C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Partial</a:t>
            </a:r>
            <a:endParaRPr sz="1267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507" name="Google Shape;507;p29"/>
          <p:cNvCxnSpPr/>
          <p:nvPr/>
        </p:nvCxnSpPr>
        <p:spPr>
          <a:xfrm>
            <a:off x="8098688" y="3078196"/>
            <a:ext cx="1611900" cy="1964700"/>
          </a:xfrm>
          <a:prstGeom prst="straightConnector1">
            <a:avLst/>
          </a:prstGeom>
          <a:noFill/>
          <a:ln cap="flat" cmpd="sng" w="16775">
            <a:solidFill>
              <a:srgbClr val="27998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08" name="Google Shape;508;p29"/>
          <p:cNvSpPr/>
          <p:nvPr/>
        </p:nvSpPr>
        <p:spPr>
          <a:xfrm rot="2700000">
            <a:off x="8753616" y="4317410"/>
            <a:ext cx="554089" cy="22146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047"/>
              <a:buFont typeface="Trebuchet MS"/>
              <a:buNone/>
            </a:pPr>
            <a:r>
              <a:rPr lang="en-US" sz="1267">
                <a:solidFill>
                  <a:srgbClr val="1D7C7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</a:t>
            </a:r>
            <a:endParaRPr sz="1267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09" name="Google Shape;509;p29"/>
          <p:cNvSpPr/>
          <p:nvPr/>
        </p:nvSpPr>
        <p:spPr>
          <a:xfrm>
            <a:off x="539123" y="2653893"/>
            <a:ext cx="1591500" cy="821100"/>
          </a:xfrm>
          <a:prstGeom prst="ellipse">
            <a:avLst/>
          </a:prstGeom>
          <a:solidFill>
            <a:srgbClr val="DCEFEA"/>
          </a:solidFill>
          <a:ln cap="flat" cmpd="sng" w="17825">
            <a:solidFill>
              <a:srgbClr val="2799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50" lIns="102650" spcFirstLastPara="1" rIns="102650" wrap="square" tIns="10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3"/>
          </a:p>
        </p:txBody>
      </p:sp>
      <p:sp>
        <p:nvSpPr>
          <p:cNvPr id="510" name="Google Shape;510;p29"/>
          <p:cNvSpPr/>
          <p:nvPr/>
        </p:nvSpPr>
        <p:spPr>
          <a:xfrm>
            <a:off x="604470" y="2765893"/>
            <a:ext cx="14610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Product order received?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11" name="Google Shape;511;p29"/>
          <p:cNvSpPr/>
          <p:nvPr/>
        </p:nvSpPr>
        <p:spPr>
          <a:xfrm>
            <a:off x="3824526" y="2653893"/>
            <a:ext cx="1591500" cy="821100"/>
          </a:xfrm>
          <a:prstGeom prst="ellipse">
            <a:avLst/>
          </a:prstGeom>
          <a:solidFill>
            <a:srgbClr val="DCEFEA"/>
          </a:solidFill>
          <a:ln cap="flat" cmpd="sng" w="17825">
            <a:solidFill>
              <a:srgbClr val="2799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50" lIns="102650" spcFirstLastPara="1" rIns="102650" wrap="square" tIns="10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3"/>
          </a:p>
        </p:txBody>
      </p:sp>
      <p:sp>
        <p:nvSpPr>
          <p:cNvPr id="512" name="Google Shape;512;p29"/>
          <p:cNvSpPr/>
          <p:nvPr/>
        </p:nvSpPr>
        <p:spPr>
          <a:xfrm>
            <a:off x="3889870" y="2765879"/>
            <a:ext cx="14610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Buyer information valid?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13" name="Google Shape;513;p29"/>
          <p:cNvSpPr/>
          <p:nvPr/>
        </p:nvSpPr>
        <p:spPr>
          <a:xfrm>
            <a:off x="6801923" y="2653893"/>
            <a:ext cx="1591500" cy="821100"/>
          </a:xfrm>
          <a:prstGeom prst="ellipse">
            <a:avLst/>
          </a:prstGeom>
          <a:solidFill>
            <a:srgbClr val="DCEFEA"/>
          </a:solidFill>
          <a:ln cap="flat" cmpd="sng" w="17825">
            <a:solidFill>
              <a:srgbClr val="2799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50" lIns="102650" spcFirstLastPara="1" rIns="102650" wrap="square" tIns="10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43"/>
          </a:p>
        </p:txBody>
      </p:sp>
      <p:sp>
        <p:nvSpPr>
          <p:cNvPr id="514" name="Google Shape;514;p29"/>
          <p:cNvSpPr/>
          <p:nvPr/>
        </p:nvSpPr>
        <p:spPr>
          <a:xfrm>
            <a:off x="6853979" y="2765893"/>
            <a:ext cx="1461000" cy="62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Stock available?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15" name="Google Shape;515;p29"/>
          <p:cNvSpPr/>
          <p:nvPr/>
        </p:nvSpPr>
        <p:spPr>
          <a:xfrm>
            <a:off x="9625316" y="1986551"/>
            <a:ext cx="2053500" cy="7698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7825">
            <a:solidFill>
              <a:srgbClr val="172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50" lIns="102650" spcFirstLastPara="1" rIns="102650" wrap="square" tIns="10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9"/>
          <p:cNvSpPr/>
          <p:nvPr/>
        </p:nvSpPr>
        <p:spPr>
          <a:xfrm>
            <a:off x="9609906" y="2111020"/>
            <a:ext cx="19140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Confirm order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Reserve stock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17" name="Google Shape;517;p29"/>
          <p:cNvSpPr/>
          <p:nvPr/>
        </p:nvSpPr>
        <p:spPr>
          <a:xfrm>
            <a:off x="9625316" y="3372570"/>
            <a:ext cx="2053500" cy="7698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7825">
            <a:solidFill>
              <a:srgbClr val="172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50" lIns="102650" spcFirstLastPara="1" rIns="102650" wrap="square" tIns="10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9"/>
          <p:cNvSpPr/>
          <p:nvPr/>
        </p:nvSpPr>
        <p:spPr>
          <a:xfrm>
            <a:off x="9609906" y="3471112"/>
            <a:ext cx="19140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Offer partial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availability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19" name="Google Shape;519;p29"/>
          <p:cNvSpPr/>
          <p:nvPr/>
        </p:nvSpPr>
        <p:spPr>
          <a:xfrm>
            <a:off x="9625316" y="4707254"/>
            <a:ext cx="2053500" cy="7698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7825">
            <a:solidFill>
              <a:srgbClr val="172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50" lIns="102650" spcFirstLastPara="1" rIns="102650" wrap="square" tIns="10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9"/>
          <p:cNvSpPr/>
          <p:nvPr/>
        </p:nvSpPr>
        <p:spPr>
          <a:xfrm>
            <a:off x="9609906" y="4780831"/>
            <a:ext cx="19140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Reject order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Notify buyer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21" name="Google Shape;521;p29"/>
          <p:cNvSpPr/>
          <p:nvPr/>
        </p:nvSpPr>
        <p:spPr>
          <a:xfrm>
            <a:off x="3824526" y="4830456"/>
            <a:ext cx="1899600" cy="7698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7825">
            <a:solidFill>
              <a:srgbClr val="172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50" lIns="102650" spcFirstLastPara="1" rIns="102650" wrap="square" tIns="10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29"/>
          <p:cNvSpPr/>
          <p:nvPr/>
        </p:nvSpPr>
        <p:spPr>
          <a:xfrm>
            <a:off x="3892776" y="4962120"/>
            <a:ext cx="1763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Wait for valid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order details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523" name="Google Shape;523;p29"/>
          <p:cNvSpPr/>
          <p:nvPr/>
        </p:nvSpPr>
        <p:spPr>
          <a:xfrm>
            <a:off x="6801923" y="4830456"/>
            <a:ext cx="1899600" cy="7698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7825">
            <a:solidFill>
              <a:srgbClr val="172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650" lIns="102650" spcFirstLastPara="1" rIns="102650" wrap="square" tIns="102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9"/>
          <p:cNvSpPr/>
          <p:nvPr/>
        </p:nvSpPr>
        <p:spPr>
          <a:xfrm>
            <a:off x="6793173" y="4962188"/>
            <a:ext cx="17631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75" lIns="275" spcFirstLastPara="1" rIns="275" wrap="square" tIns="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Request buyer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168"/>
              <a:buFont typeface="Trebuchet MS"/>
              <a:buNone/>
            </a:pPr>
            <a:r>
              <a:rPr lang="en-US" sz="1388">
                <a:solidFill>
                  <a:srgbClr val="17224D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correction</a:t>
            </a:r>
            <a:endParaRPr sz="1388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0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0"/>
          <p:cNvSpPr/>
          <p:nvPr/>
        </p:nvSpPr>
        <p:spPr>
          <a:xfrm>
            <a:off x="502920" y="246888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Technique Selection Summary</a:t>
            </a:r>
            <a:endParaRPr b="1" sz="28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2" name="Google Shape;532;p30"/>
          <p:cNvSpPr/>
          <p:nvPr/>
        </p:nvSpPr>
        <p:spPr>
          <a:xfrm>
            <a:off x="11265408" y="5980176"/>
            <a:ext cx="713232" cy="713232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0"/>
          <p:cNvSpPr/>
          <p:nvPr/>
        </p:nvSpPr>
        <p:spPr>
          <a:xfrm>
            <a:off x="11338560" y="61996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16/18</a:t>
            </a:r>
            <a:endParaRPr b="1" sz="1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4" name="Google Shape;534;p30"/>
          <p:cNvSpPr/>
          <p:nvPr/>
        </p:nvSpPr>
        <p:spPr>
          <a:xfrm>
            <a:off x="685800" y="1643751"/>
            <a:ext cx="3154800" cy="4245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35" name="Google Shape;535;p30"/>
          <p:cNvSpPr/>
          <p:nvPr/>
        </p:nvSpPr>
        <p:spPr>
          <a:xfrm>
            <a:off x="2039112" y="1234440"/>
            <a:ext cx="457200" cy="457200"/>
          </a:xfrm>
          <a:prstGeom prst="ellipse">
            <a:avLst/>
          </a:prstGeom>
          <a:solidFill>
            <a:srgbClr val="D9D9D9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0"/>
          <p:cNvSpPr/>
          <p:nvPr/>
        </p:nvSpPr>
        <p:spPr>
          <a:xfrm>
            <a:off x="2039111" y="1271025"/>
            <a:ext cx="457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b="1"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37" name="Google Shape;537;p30"/>
          <p:cNvSpPr/>
          <p:nvPr/>
        </p:nvSpPr>
        <p:spPr>
          <a:xfrm>
            <a:off x="914400" y="2057891"/>
            <a:ext cx="2697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800"/>
              <a:buFont typeface="Trebuchet MS"/>
              <a:buNone/>
            </a:pPr>
            <a:r>
              <a:rPr b="1" lang="en-US" sz="2200">
                <a:solidFill>
                  <a:srgbClr val="17224D"/>
                </a:solidFill>
                <a:latin typeface="Poppins"/>
                <a:ea typeface="Poppins"/>
                <a:cs typeface="Poppins"/>
                <a:sym typeface="Poppins"/>
              </a:rPr>
              <a:t>Structured English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8" name="Google Shape;538;p30"/>
          <p:cNvSpPr/>
          <p:nvPr/>
        </p:nvSpPr>
        <p:spPr>
          <a:xfrm>
            <a:off x="960120" y="2958646"/>
            <a:ext cx="26061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350"/>
              <a:buFont typeface="Trebuchet MS"/>
              <a:buNone/>
            </a:pPr>
            <a:r>
              <a:rPr b="1" lang="en-US" sz="175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2.4-Update Daily Operation Log</a:t>
            </a:r>
            <a:endParaRPr b="1" sz="17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39" name="Google Shape;539;p30"/>
          <p:cNvSpPr/>
          <p:nvPr/>
        </p:nvSpPr>
        <p:spPr>
          <a:xfrm>
            <a:off x="1005840" y="4056118"/>
            <a:ext cx="25146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80"/>
              <a:buFont typeface="Trebuchet MS"/>
              <a:buNone/>
            </a:pPr>
            <a:r>
              <a:rPr lang="en-US" sz="168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Best for ordered steps and small repeated feed-line updates.</a:t>
            </a:r>
            <a:endParaRPr sz="168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0" name="Google Shape;540;p30"/>
          <p:cNvSpPr/>
          <p:nvPr/>
        </p:nvSpPr>
        <p:spPr>
          <a:xfrm>
            <a:off x="4434837" y="1643751"/>
            <a:ext cx="3154800" cy="4245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541" name="Google Shape;541;p30"/>
          <p:cNvSpPr/>
          <p:nvPr/>
        </p:nvSpPr>
        <p:spPr>
          <a:xfrm>
            <a:off x="5788152" y="1234440"/>
            <a:ext cx="457200" cy="457200"/>
          </a:xfrm>
          <a:prstGeom prst="ellipse">
            <a:avLst/>
          </a:prstGeom>
          <a:solidFill>
            <a:srgbClr val="D9D9D9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30"/>
          <p:cNvSpPr/>
          <p:nvPr/>
        </p:nvSpPr>
        <p:spPr>
          <a:xfrm>
            <a:off x="5788148" y="1271025"/>
            <a:ext cx="457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3" name="Google Shape;543;p30"/>
          <p:cNvSpPr/>
          <p:nvPr/>
        </p:nvSpPr>
        <p:spPr>
          <a:xfrm>
            <a:off x="4663437" y="2057891"/>
            <a:ext cx="2697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800"/>
              <a:buFont typeface="Trebuchet MS"/>
              <a:buNone/>
            </a:pPr>
            <a:r>
              <a:rPr b="1" lang="en-US" sz="2200">
                <a:solidFill>
                  <a:srgbClr val="17224D"/>
                </a:solidFill>
                <a:latin typeface="Poppins"/>
                <a:ea typeface="Poppins"/>
                <a:cs typeface="Poppins"/>
                <a:sym typeface="Poppins"/>
              </a:rPr>
              <a:t>Decision Table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4" name="Google Shape;544;p30"/>
          <p:cNvSpPr/>
          <p:nvPr/>
        </p:nvSpPr>
        <p:spPr>
          <a:xfrm>
            <a:off x="4709157" y="2958646"/>
            <a:ext cx="26061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350"/>
              <a:buFont typeface="Trebuchet MS"/>
              <a:buNone/>
            </a:pPr>
            <a:r>
              <a:rPr b="1" lang="en-US" sz="175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2.2-Validate Batch &amp; Quantity</a:t>
            </a:r>
            <a:endParaRPr b="1" sz="17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5" name="Google Shape;545;p30"/>
          <p:cNvSpPr/>
          <p:nvPr/>
        </p:nvSpPr>
        <p:spPr>
          <a:xfrm>
            <a:off x="4754877" y="4056118"/>
            <a:ext cx="25146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80"/>
              <a:buFont typeface="Trebuchet MS"/>
              <a:buNone/>
            </a:pPr>
            <a:r>
              <a:rPr lang="en-US" sz="168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Best for several conditions that create clear rule patterns.</a:t>
            </a:r>
            <a:endParaRPr sz="168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46" name="Google Shape;546;p30"/>
          <p:cNvSpPr/>
          <p:nvPr/>
        </p:nvSpPr>
        <p:spPr>
          <a:xfrm>
            <a:off x="8183874" y="1643751"/>
            <a:ext cx="3154800" cy="42450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30"/>
          <p:cNvSpPr/>
          <p:nvPr/>
        </p:nvSpPr>
        <p:spPr>
          <a:xfrm>
            <a:off x="9537192" y="1234440"/>
            <a:ext cx="457200" cy="457200"/>
          </a:xfrm>
          <a:prstGeom prst="ellipse">
            <a:avLst/>
          </a:prstGeom>
          <a:solidFill>
            <a:srgbClr val="D9D9D9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0"/>
          <p:cNvSpPr/>
          <p:nvPr/>
        </p:nvSpPr>
        <p:spPr>
          <a:xfrm>
            <a:off x="9537185" y="1271025"/>
            <a:ext cx="457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lang="en-US" sz="16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49" name="Google Shape;549;p30"/>
          <p:cNvSpPr/>
          <p:nvPr/>
        </p:nvSpPr>
        <p:spPr>
          <a:xfrm>
            <a:off x="8412474" y="2057891"/>
            <a:ext cx="2697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800"/>
              <a:buFont typeface="Trebuchet MS"/>
              <a:buNone/>
            </a:pPr>
            <a:r>
              <a:rPr b="1" lang="en-US" sz="2200">
                <a:solidFill>
                  <a:srgbClr val="17224D"/>
                </a:solidFill>
                <a:latin typeface="Poppins"/>
                <a:ea typeface="Poppins"/>
                <a:cs typeface="Poppins"/>
                <a:sym typeface="Poppins"/>
              </a:rPr>
              <a:t>Decision Tree</a:t>
            </a:r>
            <a:endParaRPr b="1"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0" name="Google Shape;550;p30"/>
          <p:cNvSpPr/>
          <p:nvPr/>
        </p:nvSpPr>
        <p:spPr>
          <a:xfrm>
            <a:off x="8458194" y="2958646"/>
            <a:ext cx="2606100" cy="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7C73"/>
              </a:buClr>
              <a:buSzPts val="1350"/>
              <a:buFont typeface="Trebuchet MS"/>
              <a:buNone/>
            </a:pPr>
            <a:r>
              <a:rPr b="1" lang="en-US" sz="1750">
                <a:solidFill>
                  <a:srgbClr val="1D7C73"/>
                </a:solidFill>
                <a:latin typeface="Poppins"/>
                <a:ea typeface="Poppins"/>
                <a:cs typeface="Poppins"/>
                <a:sym typeface="Poppins"/>
              </a:rPr>
              <a:t>5-Process Sales &amp; Availability</a:t>
            </a:r>
            <a:endParaRPr b="1" sz="175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1" name="Google Shape;551;p30"/>
          <p:cNvSpPr/>
          <p:nvPr/>
        </p:nvSpPr>
        <p:spPr>
          <a:xfrm>
            <a:off x="8503914" y="4056118"/>
            <a:ext cx="2514600" cy="9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280"/>
              <a:buFont typeface="Trebuchet MS"/>
              <a:buNone/>
            </a:pPr>
            <a:r>
              <a:rPr lang="en-US" sz="168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Best for ordered branches where outcomes are visually traceable.</a:t>
            </a:r>
            <a:endParaRPr sz="168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31"/>
          <p:cNvSpPr/>
          <p:nvPr/>
        </p:nvSpPr>
        <p:spPr>
          <a:xfrm>
            <a:off x="502920" y="246888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lang="en-US" sz="2800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Ambiguities and Issue Handling</a:t>
            </a:r>
            <a:endParaRPr sz="2800">
              <a:solidFill>
                <a:schemeClr val="dk1"/>
              </a:solidFill>
              <a:latin typeface="Poppins ExtraBold"/>
              <a:ea typeface="Poppins ExtraBold"/>
              <a:cs typeface="Poppins ExtraBold"/>
              <a:sym typeface="Poppins ExtraBold"/>
            </a:endParaRPr>
          </a:p>
        </p:txBody>
      </p:sp>
      <p:sp>
        <p:nvSpPr>
          <p:cNvPr id="559" name="Google Shape;559;p31"/>
          <p:cNvSpPr/>
          <p:nvPr/>
        </p:nvSpPr>
        <p:spPr>
          <a:xfrm>
            <a:off x="11265408" y="5980176"/>
            <a:ext cx="713232" cy="713232"/>
          </a:xfrm>
          <a:prstGeom prst="ellipse">
            <a:avLst/>
          </a:prstGeom>
          <a:solidFill>
            <a:srgbClr val="5DB5A9"/>
          </a:solidFill>
          <a:ln cap="flat" cmpd="sng" w="12700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31"/>
          <p:cNvSpPr/>
          <p:nvPr/>
        </p:nvSpPr>
        <p:spPr>
          <a:xfrm>
            <a:off x="11338560" y="61996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17/18</a:t>
            </a:r>
            <a:endParaRPr b="1" sz="1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61" name="Google Shape;561;p31"/>
          <p:cNvSpPr/>
          <p:nvPr/>
        </p:nvSpPr>
        <p:spPr>
          <a:xfrm>
            <a:off x="594350" y="1508246"/>
            <a:ext cx="3337500" cy="45132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1"/>
          <p:cNvSpPr/>
          <p:nvPr/>
        </p:nvSpPr>
        <p:spPr>
          <a:xfrm>
            <a:off x="822950" y="1896500"/>
            <a:ext cx="28347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700"/>
              <a:buFont typeface="Trebuchet MS"/>
              <a:buNone/>
            </a:pPr>
            <a:r>
              <a:rPr b="1" lang="en-US" sz="2100">
                <a:solidFill>
                  <a:srgbClr val="17224D"/>
                </a:solidFill>
                <a:latin typeface="Poppins"/>
                <a:ea typeface="Poppins"/>
                <a:cs typeface="Poppins"/>
                <a:sym typeface="Poppins"/>
              </a:rPr>
              <a:t>Issue Found</a:t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3" name="Google Shape;563;p31"/>
          <p:cNvSpPr/>
          <p:nvPr/>
        </p:nvSpPr>
        <p:spPr>
          <a:xfrm>
            <a:off x="914390" y="2673006"/>
            <a:ext cx="26976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Poppins"/>
              <a:buChar char="●"/>
            </a:pPr>
            <a:r>
              <a:rPr lang="en-US" sz="16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Exact low-stock threshold not finalized</a:t>
            </a:r>
            <a:br>
              <a:rPr lang="en-US" sz="16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Poppins"/>
              <a:buChar char="●"/>
            </a:pPr>
            <a:r>
              <a:rPr lang="en-US" sz="16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Partial order policy is unclear</a:t>
            </a:r>
            <a:br>
              <a:rPr lang="en-US" sz="16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Poppins"/>
              <a:buChar char="●"/>
            </a:pPr>
            <a:r>
              <a:rPr lang="en-US" sz="16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Who approves rejected/held feed logs?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4" name="Google Shape;564;p31"/>
          <p:cNvSpPr/>
          <p:nvPr/>
        </p:nvSpPr>
        <p:spPr>
          <a:xfrm>
            <a:off x="4389114" y="1508246"/>
            <a:ext cx="3337500" cy="45132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1"/>
          <p:cNvSpPr/>
          <p:nvPr/>
        </p:nvSpPr>
        <p:spPr>
          <a:xfrm>
            <a:off x="4617714" y="1896500"/>
            <a:ext cx="28347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700"/>
              <a:buFont typeface="Trebuchet MS"/>
              <a:buNone/>
            </a:pPr>
            <a:r>
              <a:rPr b="1" lang="en-US" sz="2100">
                <a:solidFill>
                  <a:srgbClr val="17224D"/>
                </a:solidFill>
                <a:latin typeface="Poppins"/>
                <a:ea typeface="Poppins"/>
                <a:cs typeface="Poppins"/>
                <a:sym typeface="Poppins"/>
              </a:rPr>
              <a:t>Current Assumption</a:t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6" name="Google Shape;566;p31"/>
          <p:cNvSpPr/>
          <p:nvPr/>
        </p:nvSpPr>
        <p:spPr>
          <a:xfrm>
            <a:off x="4709150" y="2672999"/>
            <a:ext cx="2697600" cy="277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Poppins"/>
              <a:buChar char="●"/>
            </a:pPr>
            <a: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Low stock alert triggers when requested feed exceeds available stock</a:t>
            </a:r>
            <a:b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Poppins"/>
              <a:buChar char="●"/>
            </a:pPr>
            <a: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Partial fulfillment is allowed only when buyer accepts reduced quantity</a:t>
            </a:r>
            <a:b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Poppins"/>
              <a:buChar char="●"/>
            </a:pPr>
            <a: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Farm Manager reviews held or rejected transactions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8183878" y="1508246"/>
            <a:ext cx="3337500" cy="4513200"/>
          </a:xfrm>
          <a:prstGeom prst="roundRect">
            <a:avLst>
              <a:gd fmla="val 16667" name="adj"/>
            </a:avLst>
          </a:prstGeom>
          <a:solidFill>
            <a:srgbClr val="DCEFEA"/>
          </a:solidFill>
          <a:ln cap="flat" cmpd="sng" w="15225">
            <a:solidFill>
              <a:srgbClr val="5DB5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31"/>
          <p:cNvSpPr/>
          <p:nvPr/>
        </p:nvSpPr>
        <p:spPr>
          <a:xfrm>
            <a:off x="8412478" y="1896500"/>
            <a:ext cx="2834700" cy="349500"/>
          </a:xfrm>
          <a:prstGeom prst="rect">
            <a:avLst/>
          </a:prstGeom>
          <a:noFill/>
          <a:ln>
            <a:noFill/>
          </a:ln>
        </p:spPr>
        <p:txBody>
          <a:bodyPr anchorCtr="0" anchor="t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224D"/>
              </a:buClr>
              <a:buSzPts val="1700"/>
              <a:buFont typeface="Trebuchet MS"/>
              <a:buNone/>
            </a:pPr>
            <a:r>
              <a:rPr b="1" lang="en-US" sz="2100">
                <a:solidFill>
                  <a:srgbClr val="17224D"/>
                </a:solidFill>
                <a:latin typeface="Poppins"/>
                <a:ea typeface="Poppins"/>
                <a:cs typeface="Poppins"/>
                <a:sym typeface="Poppins"/>
              </a:rPr>
              <a:t>Next Action</a:t>
            </a:r>
            <a:endParaRPr b="1"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9" name="Google Shape;569;p31"/>
          <p:cNvSpPr/>
          <p:nvPr/>
        </p:nvSpPr>
        <p:spPr>
          <a:xfrm>
            <a:off x="8503918" y="2673006"/>
            <a:ext cx="2697600" cy="22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" lIns="1000" spcFirstLastPara="1" rIns="1000" wrap="square" tIns="100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Poppins"/>
              <a:buChar char="●"/>
            </a:pPr>
            <a: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Confirm threshold with farm manager</a:t>
            </a:r>
            <a:b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Poppins"/>
              <a:buChar char="●"/>
            </a:pPr>
            <a: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Add buyer confirmation rule in sales form</a:t>
            </a:r>
            <a:b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Poppins"/>
              <a:buChar char="●"/>
            </a:pPr>
            <a:r>
              <a:rPr lang="en-US" sz="1500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Define approval authority and audit trail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1F1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32"/>
          <p:cNvSpPr/>
          <p:nvPr/>
        </p:nvSpPr>
        <p:spPr>
          <a:xfrm>
            <a:off x="11338560" y="6199632"/>
            <a:ext cx="5669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Trebuchet MS"/>
              <a:buNone/>
            </a:pPr>
            <a:r>
              <a:rPr lang="en-US" sz="13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18/18</a:t>
            </a:r>
            <a:endParaRPr b="1" sz="1000">
              <a:solidFill>
                <a:srgbClr val="FFFFFF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576" name="Google Shape;576;p32"/>
          <p:cNvSpPr/>
          <p:nvPr/>
        </p:nvSpPr>
        <p:spPr>
          <a:xfrm>
            <a:off x="0" y="2002739"/>
            <a:ext cx="12192000" cy="2279400"/>
          </a:xfrm>
          <a:prstGeom prst="rect">
            <a:avLst/>
          </a:prstGeom>
          <a:solidFill>
            <a:srgbClr val="5EAFA6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/>
          </a:p>
        </p:txBody>
      </p:sp>
      <p:pic>
        <p:nvPicPr>
          <p:cNvPr id="577" name="Google Shape;57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07648" y="243200"/>
            <a:ext cx="776734" cy="1270135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32"/>
          <p:cNvSpPr txBox="1"/>
          <p:nvPr/>
        </p:nvSpPr>
        <p:spPr>
          <a:xfrm>
            <a:off x="4263207" y="2897742"/>
            <a:ext cx="3665400" cy="9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4000">
                <a:solidFill>
                  <a:srgbClr val="FFFFFF"/>
                </a:solidFill>
                <a:latin typeface="Poppins Black"/>
                <a:ea typeface="Poppins Black"/>
                <a:cs typeface="Poppins Black"/>
                <a:sym typeface="Poppins Black"/>
              </a:rPr>
              <a:t>Thank You</a:t>
            </a:r>
            <a:endParaRPr i="1" sz="4000">
              <a:solidFill>
                <a:srgbClr val="FFFFFF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579" name="Google Shape;579;p32"/>
          <p:cNvSpPr txBox="1"/>
          <p:nvPr/>
        </p:nvSpPr>
        <p:spPr>
          <a:xfrm>
            <a:off x="1601203" y="4559546"/>
            <a:ext cx="89895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67">
                <a:solidFill>
                  <a:srgbClr val="5EAFA6"/>
                </a:solidFill>
                <a:latin typeface="Poppins"/>
                <a:ea typeface="Poppins"/>
                <a:cs typeface="Poppins"/>
                <a:sym typeface="Poppins"/>
              </a:rPr>
              <a:t>We are ready for your valuable feedback!</a:t>
            </a:r>
            <a:endParaRPr sz="2267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